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everyone, and welcome to my presentation on the NMR 13C Prediction App. In organic chemistry and structure elucidation, Nuclear Magnetic Resonance (NMR) spectroscopy is one of the most powerful tools. However, interpreting spectra often requires years of experience or time-consuming quantum chemical DFT calculations. Our application addresses this: it combines three different prediction paradigms – Graph Neural Networks, 3D Coordinate Networks, and database topology searches – into a fast, robust consensus prediction. The entire process runs completely locally and offline. In this presentation, I will introduce the exact mathematical and algorithmic details behind these features.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agenda for today's presentation. After a short motivation, we will introduce the general program workflow. Then we will dive deep into the three core prediction methods. After that, we will discuss how we model geometry effects using force-field minimization and Boltzmann ensembles. A special focus will be on the experimental symmetry averaging and the mathematical logic behind the Auto-MAE peak assignment, which automatically assigns measured spectra to atoms. At the end, we will show the robustness and UI features.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don't we just use a single, best model? In practice, every architecture has specific weaknesses. Pure graph models are extremely fast and robust, but they do not capture stereochemical effects like cis/trans isomerism. On the other hand, 3D models capture geometry but can output unrealistic values if the initial geometries are poor. Topological databases are highly accurate for known fragments, but fail for unknown substituents. By combining CASCADE, EST-NMR, and DCode in our app, the weaknesses cancel each other out. The difference between the models also gives us a direct measure of prediction uncertainty.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workflow diagram illustrates the process. When the user enters a SMILES code, RDKit prepares the molecule. To keep the app starting fast, we implement lazy loading: the deep learning models and the 40 megabyte DCode database are only loaded when 'Calculate' is clicked for the first time. Then the calculations split. An RDKit algorithm generates 10 conformers, minimizes their energies in the MMFF94 force field, and provides these geometries to both EST-NMR and DCode. In the end, the results are combined, the range is calculated, and the UI updates.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the first model: CASCADE. CASCADE is a state-of-the-art Graph Neural Network. It views atoms and bonds as nodes and edges of a graph. Using message-passing steps, the network learns how electronic effects – like donor groups or resonance – are transported through bonds. CASCADE also calculates a Boltzmann-weighted conformer ensemble internally to capture the effect of conformational changes. Since it was trained on a large number of DFT-calculated molecules, it provides highly accurate values for standard organic structures.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model is EST-NMR. Unlike CASCADE, which works on the molecular graph, EST-NMR works directly with the 3D structure. The loaded PyTorch model takes only atomic numbers and spatial coordinates as input. We implement two variants: 'Single' uses only the most stable conformer, while 'Boltz' runs the model for all 10 conformers. This is important because molecules in solution are flexible, and this allows us to predict the thermodynamic average. EST-NMR is especially useful when spatial strain affects the chemical shift.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method is DCode, which uses an empirical database approach. DCode calculates a unique text code for each carbon atom within a 6 Ångström radius, describing its topology and spatial environment. The program searches a 40 megabyte CSV file containing hundreds of thousands of known fragments from experimental databases. If an exact match is found, DCode returns the experimental average. Since the code is conformer-specific, we weight the results using the Boltzmann distribution of the 10 conformers. DCode is highly accurate for known groups, but returns NaN if a fragment is missing.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talk about the physical basis of Boltzmann weighting. In the NMR tube, we measure a thermodynamic average. A high-energy conformer that only exists 0.1% of the time should not affect the predicted shift. Therefore, we generate 10 conformers and minimize them in the MMFF94 force field. Using the energy difference to the most stable state, we calculate the Boltzmann weights. This ensures that only physically relevant geometries influence the prediction, which significantly improves accuracy compared to predicting a single, arbitrary 3D structure.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key feature of our app is the Range metric. By running three different algorithms in parallel, we can calculate their maximum difference. If they differ by more than 5 ppm, the table cell is highlighted in red with a warning icon. This immediately tells the chemist: 'Attention, the models disagree here.' This usually happens at highly strained stereocenters or in highly charged molecules where standard force fields reach their limits. It serves as a direct quality indicator.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solution, equivalent atoms show the exact same chemical shift due to fast rotation. In computer-generated 3D models, however, bond lengths and angles are never perfectly symmetric, leading to slightly different predictions. To fix this, we use a symmetry averaging feature. We combine RDKit's topological 2D ranking with a spatial 3D refinement. Atoms are only grouped if their 3D distance profiles match within a tolerance of 0,4 Å. This correctly groups rotating methyls or phenyl rings, while keeping rigid geometric isomers like cis and trans positions separate.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have measured a spectrum, you can paste the peaks as a comma-separated list into the app. Now we face the matching problem. Since the spectrum does not know which peak belongs to which atom, we use the ordinal matching method by Bally and Rablen. We sort both experimental peaks and predictions in descending order and pair them. Based on this, we calculate the Mean Absolute Error (MAE) for each model. This lets the user see instantly which model describes their experimental measurements best.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assignment algorithm is two-stage and symmetry-aware. In Stage A – the standard case – there are at most as many experimental peaks as unique symmetry ranks. We group the atoms by symmetry rank, sort the groups by their average prediction, and match the peaks to the groups. This ensures that symmetric atoms (like ortho-carbons in a phenol ring) get the same experimental peak assigned. If the user enters more peaks than symmetry groups – for example, due to impurities –, Stage B acts as a fallback, performing a direct 1-to-1 matching of individual sorted atoms.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Robustness is critical for daily lab use. Chemical structures can be highly complex. If RDKit fails to generate a stable 3D conformer for a highly strained ring system, the app does not crash. It automatically falls back to the 2D structure. If a fragment is missing in the DCode database, it is marked as NaN and ignored in the averaging and MAE calculations. A small weakness of ordinal matching is that a large outlier in one model can shift the average and swap the peak assignment. In such cases, the user is alerted by the red warning icon of the high range.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I want to highlight the user interface and interactive features. To make input simple, we integrated the Ketcher structure editor offline. Chemists can draw the molecule, and the app generates the SMILES automatically. The 2D graphic supports smooth zooming and is linked to the results table: click an atom in the table, and it lights up in the drawing. The simulated spectrum uses Lorentz curves to build a realistic spectrum. Here, peaks can also be clicked to identify the corresponding atoms. Lastly, results can be exported as HTML reports or CSV files.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summary, the app provides chemistry labs with a powerful tool for rapid validation of synthetic products. Through consensus prediction and physical Boltzmann weighting, we achieve high accuracy. Features like automated experimental peak matching and symmetry averaging make the app highly practical for daily lab work. Since it runs completely offline, sensitive research data remains protected on the local PC. Thank you very much for your attention, and I am happy to take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360152" cy="3657600"/>
          </a:xfrm>
          <a:prstGeom prst="rect">
            <a:avLst/>
          </a:prstGeom>
          <a:noFill/>
        </p:spPr>
        <p:txBody>
          <a:bodyPr wrap="square">
            <a:spAutoFit/>
          </a:bodyPr>
          <a:lstStyle/>
          <a:p>
            <a:pPr algn="ctr">
              <a:defRPr sz="3800" b="1">
                <a:solidFill>
                  <a:srgbClr val="FFFFFF"/>
                </a:solidFill>
                <a:latin typeface="Segoe UI"/>
              </a:defRPr>
            </a:pPr>
            <a:r>
              <a:t>Consensus-Based ¹³C-NMR Chemical Shift Prediction</a:t>
            </a:r>
          </a:p>
          <a:p>
            <a:pPr algn="ctr">
              <a:spcBef>
                <a:spcPts val="1400"/>
              </a:spcBef>
              <a:defRPr sz="2600">
                <a:solidFill>
                  <a:srgbClr val="38BDF8"/>
                </a:solidFill>
                <a:latin typeface="Segoe UI"/>
              </a:defRPr>
            </a:pPr>
            <a:r>
              <a:t>using Machine Learning and Topology Analysis</a:t>
            </a:r>
          </a:p>
          <a:p>
            <a:pPr algn="ctr">
              <a:spcBef>
                <a:spcPts val="3600"/>
              </a:spcBef>
              <a:defRPr sz="1800">
                <a:solidFill>
                  <a:srgbClr val="E2E8F0"/>
                </a:solidFill>
                <a:latin typeface="Segoe UI"/>
              </a:defRPr>
            </a:pPr>
            <a:r>
              <a:t>An Introduction to the NMR 13C Prediction App: Concepts, Algorithms, and Validation</a:t>
            </a:r>
          </a:p>
        </p:txBody>
      </p:sp>
      <p:sp>
        <p:nvSpPr>
          <p:cNvPr id="4" name="TextBox 3"/>
          <p:cNvSpPr txBox="1"/>
          <p:nvPr/>
        </p:nvSpPr>
        <p:spPr>
          <a:xfrm>
            <a:off x="914400" y="5303520"/>
            <a:ext cx="10360152" cy="914400"/>
          </a:xfrm>
          <a:prstGeom prst="rect">
            <a:avLst/>
          </a:prstGeom>
          <a:noFill/>
        </p:spPr>
        <p:txBody>
          <a:bodyPr wrap="none">
            <a:spAutoFit/>
          </a:bodyPr>
          <a:lstStyle/>
          <a:p>
            <a:pPr algn="ctr">
              <a:defRPr sz="1400">
                <a:solidFill>
                  <a:srgbClr val="94A3B8"/>
                </a:solidFill>
                <a:latin typeface="Segoe UI"/>
              </a:defRPr>
            </a:pPr>
            <a:r>
              <a:t>NMR Predictor App   |   Methodology Presentation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914400"/>
          </a:xfrm>
          <a:prstGeom prst="rect">
            <a:avLst/>
          </a:prstGeom>
          <a:noFill/>
        </p:spPr>
        <p:txBody>
          <a:bodyPr wrap="square" lIns="0" tIns="0" rIns="0" bIns="0">
            <a:spAutoFit/>
          </a:bodyPr>
          <a:lstStyle/>
          <a:p>
            <a:pPr>
              <a:defRPr sz="3200" b="1">
                <a:solidFill>
                  <a:srgbClr val="FFFFFF"/>
                </a:solidFill>
                <a:latin typeface="Segoe UI"/>
              </a:defRPr>
            </a:pPr>
            <a:r>
              <a:t>Agenda</a:t>
            </a:r>
          </a:p>
        </p:txBody>
      </p:sp>
      <p:sp>
        <p:nvSpPr>
          <p:cNvPr id="4" name="Rectangle 3"/>
          <p:cNvSpPr/>
          <p:nvPr/>
        </p:nvSpPr>
        <p:spPr>
          <a:xfrm>
            <a:off x="731520" y="1188720"/>
            <a:ext cx="182880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12064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4572000" cy="4023360"/>
          </a:xfrm>
          <a:prstGeom prst="rect">
            <a:avLst/>
          </a:prstGeom>
          <a:noFill/>
        </p:spPr>
        <p:txBody>
          <a:bodyPr wrap="square" lIns="0" rIns="0" tIns="0" bIns="0">
            <a:spAutoFit/>
          </a:bodyPr>
          <a:lstStyle/>
          <a:p>
            <a:pPr>
              <a:spcBef>
                <a:spcPts val="0"/>
              </a:spcBef>
              <a:spcAft>
                <a:spcPts val="400"/>
              </a:spcAft>
              <a:defRPr sz="1500" b="1">
                <a:solidFill>
                  <a:srgbClr val="FFFFFF"/>
                </a:solidFill>
                <a:latin typeface="Segoe UI"/>
              </a:defRPr>
            </a:pPr>
            <a:r>
              <a:t>Presentation Outline:</a:t>
            </a:r>
          </a:p>
          <a:p>
            <a:pPr>
              <a:spcAft>
                <a:spcPts val="1000"/>
              </a:spcAft>
              <a:defRPr sz="1500">
                <a:solidFill>
                  <a:srgbClr val="E2E8F0"/>
                </a:solidFill>
                <a:latin typeface="Segoe UI"/>
              </a:defRPr>
            </a:pPr>
            <a:r>
              <a:t>1. Motivation &amp; Problem Statement (Why consensus?)</a:t>
            </a:r>
          </a:p>
          <a:p>
            <a:pPr>
              <a:spcAft>
                <a:spcPts val="1000"/>
              </a:spcAft>
              <a:defRPr sz="1500">
                <a:solidFill>
                  <a:srgbClr val="E2E8F0"/>
                </a:solidFill>
                <a:latin typeface="Segoe UI"/>
              </a:defRPr>
            </a:pPr>
            <a:r>
              <a:t>2. System Architecture &amp; Workflow</a:t>
            </a:r>
          </a:p>
          <a:p>
            <a:pPr>
              <a:spcAft>
                <a:spcPts val="1000"/>
              </a:spcAft>
              <a:defRPr sz="1500">
                <a:solidFill>
                  <a:srgbClr val="E2E8F0"/>
                </a:solidFill>
                <a:latin typeface="Segoe UI"/>
              </a:defRPr>
            </a:pPr>
            <a:r>
              <a:t>3. The Three Prediction Models (CASCADE, EST-NMR, DCode)</a:t>
            </a:r>
          </a:p>
          <a:p>
            <a:pPr>
              <a:spcAft>
                <a:spcPts val="1000"/>
              </a:spcAft>
              <a:defRPr sz="1500">
                <a:solidFill>
                  <a:srgbClr val="E2E8F0"/>
                </a:solidFill>
                <a:latin typeface="Segoe UI"/>
              </a:defRPr>
            </a:pPr>
            <a:r>
              <a:t>4. Physical Refinement (MMFF94 Ensemble &amp; Boltzmann)</a:t>
            </a:r>
          </a:p>
        </p:txBody>
      </p:sp>
      <p:sp>
        <p:nvSpPr>
          <p:cNvPr id="7" name="Rounded Rectangle 6"/>
          <p:cNvSpPr/>
          <p:nvPr/>
        </p:nvSpPr>
        <p:spPr>
          <a:xfrm>
            <a:off x="6309360" y="1645920"/>
            <a:ext cx="512064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920240"/>
            <a:ext cx="4572000" cy="4023360"/>
          </a:xfrm>
          <a:prstGeom prst="rect">
            <a:avLst/>
          </a:prstGeom>
          <a:noFill/>
        </p:spPr>
        <p:txBody>
          <a:bodyPr wrap="square" lIns="0" rIns="0" tIns="0" bIns="0">
            <a:spAutoFit/>
          </a:bodyPr>
          <a:lstStyle/>
          <a:p>
            <a:pPr>
              <a:spcBef>
                <a:spcPts val="0"/>
              </a:spcBef>
              <a:spcAft>
                <a:spcPts val="400"/>
              </a:spcAft>
              <a:defRPr sz="1500" b="1">
                <a:solidFill>
                  <a:srgbClr val="FFFFFF"/>
                </a:solidFill>
                <a:latin typeface="Segoe UI"/>
              </a:defRPr>
            </a:pPr>
            <a:r>
              <a:t>Continued:</a:t>
            </a:r>
          </a:p>
          <a:p>
            <a:pPr>
              <a:spcAft>
                <a:spcPts val="1000"/>
              </a:spcAft>
              <a:defRPr sz="1500">
                <a:solidFill>
                  <a:srgbClr val="E2E8F0"/>
                </a:solidFill>
                <a:latin typeface="Segoe UI"/>
              </a:defRPr>
            </a:pPr>
            <a:r>
              <a:t>5. Chemical Symmetry (2D/3D Hybrid Symmetry Averaging)</a:t>
            </a:r>
          </a:p>
          <a:p>
            <a:pPr>
              <a:spcAft>
                <a:spcPts val="1000"/>
              </a:spcAft>
              <a:defRPr sz="1500">
                <a:solidFill>
                  <a:srgbClr val="E2E8F0"/>
                </a:solidFill>
                <a:latin typeface="Segoe UI"/>
              </a:defRPr>
            </a:pPr>
            <a:r>
              <a:t>6. Peak Assignment &amp; Validation (Auto-MAE)</a:t>
            </a:r>
          </a:p>
          <a:p>
            <a:pPr>
              <a:spcAft>
                <a:spcPts val="1000"/>
              </a:spcAft>
              <a:defRPr sz="1500">
                <a:solidFill>
                  <a:srgbClr val="E2E8F0"/>
                </a:solidFill>
                <a:latin typeface="Segoe UI"/>
              </a:defRPr>
            </a:pPr>
            <a:r>
              <a:t>7. Robustness, Error Handling &amp; UI Features</a:t>
            </a:r>
          </a:p>
          <a:p>
            <a:pPr>
              <a:spcAft>
                <a:spcPts val="1000"/>
              </a:spcAft>
              <a:defRPr sz="1500">
                <a:solidFill>
                  <a:srgbClr val="E2E8F0"/>
                </a:solidFill>
                <a:latin typeface="Segoe UI"/>
              </a:defRPr>
            </a:pPr>
            <a:r>
              <a:t>8. Summary &amp; Discussion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914400"/>
          </a:xfrm>
          <a:prstGeom prst="rect">
            <a:avLst/>
          </a:prstGeom>
          <a:noFill/>
        </p:spPr>
        <p:txBody>
          <a:bodyPr wrap="square" lIns="0" tIns="0" rIns="0" bIns="0">
            <a:spAutoFit/>
          </a:bodyPr>
          <a:lstStyle/>
          <a:p>
            <a:pPr>
              <a:defRPr sz="3200" b="1">
                <a:solidFill>
                  <a:srgbClr val="FFFFFF"/>
                </a:solidFill>
                <a:latin typeface="Segoe UI"/>
              </a:defRPr>
            </a:pPr>
            <a:r>
              <a:t>Motivation: Why Multi-Model Consensus?</a:t>
            </a:r>
          </a:p>
        </p:txBody>
      </p:sp>
      <p:sp>
        <p:nvSpPr>
          <p:cNvPr id="4" name="Rectangle 3"/>
          <p:cNvSpPr/>
          <p:nvPr/>
        </p:nvSpPr>
        <p:spPr>
          <a:xfrm>
            <a:off x="731520" y="1188720"/>
            <a:ext cx="182880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12064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4572000" cy="4023360"/>
          </a:xfrm>
          <a:prstGeom prst="rect">
            <a:avLst/>
          </a:prstGeom>
          <a:noFill/>
        </p:spPr>
        <p:txBody>
          <a:bodyPr wrap="square" lIns="0" rIns="0" tIns="0" bIns="0">
            <a:spAutoFit/>
          </a:bodyPr>
          <a:lstStyle/>
          <a:p>
            <a:pPr>
              <a:spcBef>
                <a:spcPts val="0"/>
              </a:spcBef>
              <a:spcAft>
                <a:spcPts val="400"/>
              </a:spcAft>
              <a:defRPr sz="1500" b="1">
                <a:solidFill>
                  <a:srgbClr val="FFFFFF"/>
                </a:solidFill>
                <a:latin typeface="Segoe UI"/>
              </a:defRPr>
            </a:pPr>
            <a:r>
              <a:t>Limitations of Single Calculation Methods:</a:t>
            </a:r>
          </a:p>
          <a:p>
            <a:pPr>
              <a:spcAft>
                <a:spcPts val="1000"/>
              </a:spcAft>
              <a:defRPr sz="1500">
                <a:solidFill>
                  <a:srgbClr val="E2E8F0"/>
                </a:solidFill>
                <a:latin typeface="Segoe UI"/>
              </a:defRPr>
            </a:pPr>
            <a:r>
              <a:t>• Pure Graph Models (2D) ignore three-dimensional space structures and stereochemistry.</a:t>
            </a:r>
          </a:p>
          <a:p>
            <a:pPr>
              <a:spcAft>
                <a:spcPts val="1000"/>
              </a:spcAft>
              <a:defRPr sz="1500">
                <a:solidFill>
                  <a:srgbClr val="E2E8F0"/>
                </a:solidFill>
                <a:latin typeface="Segoe UI"/>
              </a:defRPr>
            </a:pPr>
            <a:r>
              <a:t>• Pure 3D Models are highly sensitive to small variations in geometry generation.</a:t>
            </a:r>
          </a:p>
          <a:p>
            <a:pPr>
              <a:spcAft>
                <a:spcPts val="1000"/>
              </a:spcAft>
              <a:defRPr sz="1500">
                <a:solidFill>
                  <a:srgbClr val="E2E8F0"/>
                </a:solidFill>
                <a:latin typeface="Segoe UI"/>
              </a:defRPr>
            </a:pPr>
            <a:r>
              <a:t>• Pure Database Lookups (topology code) fail for completely unknown chemical environments (NaN).</a:t>
            </a:r>
          </a:p>
          <a:p>
            <a:pPr>
              <a:spcBef>
                <a:spcPts val="1000"/>
              </a:spcBef>
              <a:spcAft>
                <a:spcPts val="400"/>
              </a:spcAft>
              <a:defRPr sz="1500" b="1">
                <a:solidFill>
                  <a:srgbClr val="FFFFFF"/>
                </a:solidFill>
                <a:latin typeface="Segoe UI"/>
              </a:defRPr>
            </a:pPr>
            <a:r>
              <a:t>Our Consensus Approach:</a:t>
            </a:r>
          </a:p>
          <a:p>
            <a:pPr>
              <a:spcAft>
                <a:spcPts val="1000"/>
              </a:spcAft>
              <a:defRPr sz="1500">
                <a:solidFill>
                  <a:srgbClr val="E2E8F0"/>
                </a:solidFill>
                <a:latin typeface="Segoe UI"/>
              </a:defRPr>
            </a:pPr>
            <a:r>
              <a:t>• CASCADE provides electronic constitution using molecular graphs.</a:t>
            </a:r>
          </a:p>
          <a:p>
            <a:pPr>
              <a:spcAft>
                <a:spcPts val="1000"/>
              </a:spcAft>
              <a:defRPr sz="1500">
                <a:solidFill>
                  <a:srgbClr val="E2E8F0"/>
                </a:solidFill>
                <a:latin typeface="Segoe UI"/>
              </a:defRPr>
            </a:pPr>
            <a:r>
              <a:t>• EST-NMR calculates direct physical effects using 3D coordinate tensors.</a:t>
            </a:r>
          </a:p>
          <a:p>
            <a:pPr>
              <a:spcAft>
                <a:spcPts val="1000"/>
              </a:spcAft>
              <a:defRPr sz="1500">
                <a:solidFill>
                  <a:srgbClr val="E2E8F0"/>
                </a:solidFill>
                <a:latin typeface="Segoe UI"/>
              </a:defRPr>
            </a:pPr>
            <a:r>
              <a:t>• DCode reflects proven, empirical knowledge from real measurements.</a:t>
            </a:r>
          </a:p>
        </p:txBody>
      </p:sp>
      <p:sp>
        <p:nvSpPr>
          <p:cNvPr id="7" name="Rounded Rectangle 6"/>
          <p:cNvSpPr/>
          <p:nvPr/>
        </p:nvSpPr>
        <p:spPr>
          <a:xfrm>
            <a:off x="6309360" y="1645920"/>
            <a:ext cx="512064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920240"/>
            <a:ext cx="4572000" cy="4023360"/>
          </a:xfrm>
          <a:prstGeom prst="rect">
            <a:avLst/>
          </a:prstGeom>
          <a:noFill/>
        </p:spPr>
        <p:txBody>
          <a:bodyPr wrap="square" lIns="0" rIns="0" tIns="0" bIns="0">
            <a:spAutoFit/>
          </a:bodyPr>
          <a:lstStyle/>
          <a:p>
            <a:pPr>
              <a:spcAft>
                <a:spcPts val="1400"/>
              </a:spcAft>
              <a:defRPr sz="2000" b="1">
                <a:solidFill>
                  <a:srgbClr val="38BDF8"/>
                </a:solidFill>
                <a:latin typeface="Segoe UI"/>
              </a:defRPr>
            </a:pPr>
            <a:r>
              <a:t>Multi-Model Consensus</a:t>
            </a:r>
          </a:p>
          <a:p>
            <a:pPr>
              <a:spcBef>
                <a:spcPts val="1000"/>
              </a:spcBef>
              <a:defRPr sz="1500">
                <a:solidFill>
                  <a:srgbClr val="E2E8F0"/>
                </a:solidFill>
                <a:latin typeface="Segoe UI"/>
              </a:defRPr>
            </a:pPr>
            <a:r>
              <a:t>The app aggregates the strengths of three orthogonal models.</a:t>
            </a:r>
            <a:br/>
            <a:br/>
            <a:r>
              <a:t>We determine prediction uncertainty directly from the discrepancy between model results.</a:t>
            </a:r>
            <a:br/>
            <a:br/>
            <a:r>
              <a:t>Consensus reduces large outliers and balances systematic errors of individual systems.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914400"/>
          </a:xfrm>
          <a:prstGeom prst="rect">
            <a:avLst/>
          </a:prstGeom>
          <a:noFill/>
        </p:spPr>
        <p:txBody>
          <a:bodyPr wrap="square" lIns="0" tIns="0" rIns="0" bIns="0">
            <a:spAutoFit/>
          </a:bodyPr>
          <a:lstStyle/>
          <a:p>
            <a:pPr>
              <a:defRPr sz="3200" b="1">
                <a:solidFill>
                  <a:srgbClr val="FFFFFF"/>
                </a:solidFill>
                <a:latin typeface="Segoe UI"/>
              </a:defRPr>
            </a:pPr>
            <a:r>
              <a:t>System Architecture &amp; Workflow</a:t>
            </a:r>
          </a:p>
        </p:txBody>
      </p:sp>
      <p:sp>
        <p:nvSpPr>
          <p:cNvPr id="4" name="Rectangle 3"/>
          <p:cNvSpPr/>
          <p:nvPr/>
        </p:nvSpPr>
        <p:spPr>
          <a:xfrm>
            <a:off x="731520" y="1188720"/>
            <a:ext cx="182880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3410712"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3044952" cy="4206240"/>
          </a:xfrm>
          <a:prstGeom prst="rect">
            <a:avLst/>
          </a:prstGeom>
          <a:noFill/>
        </p:spPr>
        <p:txBody>
          <a:bodyPr wrap="square" lIns="0" rIns="0" tIns="0" bIns="0">
            <a:spAutoFit/>
          </a:bodyPr>
          <a:lstStyle/>
          <a:p>
            <a:pPr>
              <a:spcAft>
                <a:spcPts val="1400"/>
              </a:spcAft>
              <a:defRPr sz="2000" b="1">
                <a:solidFill>
                  <a:srgbClr val="38BDF8"/>
                </a:solidFill>
                <a:latin typeface="Segoe UI"/>
              </a:defRPr>
            </a:pPr>
            <a:r>
              <a:t>1. INPUT</a:t>
            </a:r>
          </a:p>
          <a:p>
            <a:pPr>
              <a:spcBef>
                <a:spcPts val="1000"/>
              </a:spcBef>
              <a:defRPr sz="1400">
                <a:solidFill>
                  <a:srgbClr val="E2E8F0"/>
                </a:solidFill>
                <a:latin typeface="Segoe UI"/>
              </a:defRPr>
            </a:pPr>
            <a:r>
              <a:t>• Enter a SMILES string in the input field</a:t>
            </a:r>
            <a:br/>
            <a:br/>
            <a:r>
              <a:t>• Offline Ketcher editor for 2D molecular sketching</a:t>
            </a:r>
            <a:br/>
            <a:br/>
            <a:r>
              <a:t>• Automatic SMILES generation upon transfer to the main window</a:t>
            </a:r>
          </a:p>
        </p:txBody>
      </p:sp>
      <p:sp>
        <p:nvSpPr>
          <p:cNvPr id="7" name="Rounded Rectangle 6"/>
          <p:cNvSpPr/>
          <p:nvPr/>
        </p:nvSpPr>
        <p:spPr>
          <a:xfrm>
            <a:off x="4389120" y="1645920"/>
            <a:ext cx="3410712"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828800"/>
            <a:ext cx="3044952" cy="4206240"/>
          </a:xfrm>
          <a:prstGeom prst="rect">
            <a:avLst/>
          </a:prstGeom>
          <a:noFill/>
        </p:spPr>
        <p:txBody>
          <a:bodyPr wrap="square" lIns="0" rIns="0" tIns="0" bIns="0">
            <a:spAutoFit/>
          </a:bodyPr>
          <a:lstStyle/>
          <a:p>
            <a:pPr>
              <a:spcAft>
                <a:spcPts val="1400"/>
              </a:spcAft>
              <a:defRPr sz="2000" b="1">
                <a:solidFill>
                  <a:srgbClr val="38BDF8"/>
                </a:solidFill>
                <a:latin typeface="Segoe UI"/>
              </a:defRPr>
            </a:pPr>
            <a:r>
              <a:t>2. PROCESSING</a:t>
            </a:r>
          </a:p>
          <a:p>
            <a:pPr>
              <a:spcBef>
                <a:spcPts val="1000"/>
              </a:spcBef>
              <a:defRPr sz="1400">
                <a:solidFill>
                  <a:srgbClr val="E2E8F0"/>
                </a:solidFill>
                <a:latin typeface="Segoe UI"/>
              </a:defRPr>
            </a:pPr>
            <a:r>
              <a:t>• Lazy loading of heavy models and CSV-DB only on the first 'Calculate' click</a:t>
            </a:r>
            <a:br/>
            <a:br/>
            <a:r>
              <a:t>• Generation of 10 representative geometries via distance geometry</a:t>
            </a:r>
            <a:br/>
            <a:br/>
            <a:r>
              <a:t>• Energy minimization (MMFF94 force field) to determine energies E_i</a:t>
            </a:r>
          </a:p>
        </p:txBody>
      </p:sp>
      <p:sp>
        <p:nvSpPr>
          <p:cNvPr id="9" name="Rounded Rectangle 8"/>
          <p:cNvSpPr/>
          <p:nvPr/>
        </p:nvSpPr>
        <p:spPr>
          <a:xfrm>
            <a:off x="8046720" y="1645920"/>
            <a:ext cx="3410712"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828800"/>
            <a:ext cx="3044952" cy="4206240"/>
          </a:xfrm>
          <a:prstGeom prst="rect">
            <a:avLst/>
          </a:prstGeom>
          <a:noFill/>
        </p:spPr>
        <p:txBody>
          <a:bodyPr wrap="square" lIns="0" rIns="0" tIns="0" bIns="0">
            <a:spAutoFit/>
          </a:bodyPr>
          <a:lstStyle/>
          <a:p>
            <a:pPr>
              <a:spcAft>
                <a:spcPts val="1400"/>
              </a:spcAft>
              <a:defRPr sz="2000" b="1">
                <a:solidFill>
                  <a:srgbClr val="38BDF8"/>
                </a:solidFill>
                <a:latin typeface="Segoe UI"/>
              </a:defRPr>
            </a:pPr>
            <a:r>
              <a:t>3. RESULTS &amp; UI</a:t>
            </a:r>
          </a:p>
          <a:p>
            <a:pPr>
              <a:spcBef>
                <a:spcPts val="1000"/>
              </a:spcBef>
              <a:defRPr sz="1400">
                <a:solidFill>
                  <a:srgbClr val="E2E8F0"/>
                </a:solidFill>
                <a:latin typeface="Segoe UI"/>
              </a:defRPr>
            </a:pPr>
            <a:r>
              <a:t>• Parallel predictions with CASCADE (GNN), EST-NMR (3D-NN) &amp; DCode</a:t>
            </a:r>
            <a:br/>
            <a:br/>
            <a:r>
              <a:t>• Thermodynamic Boltzmann averaging over all conformers</a:t>
            </a:r>
            <a:br/>
            <a:br/>
            <a:r>
              <a:t>• Range check (&gt; 5 ppm = ⚠️) and interactive report rendering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914400"/>
          </a:xfrm>
          <a:prstGeom prst="rect">
            <a:avLst/>
          </a:prstGeom>
          <a:noFill/>
        </p:spPr>
        <p:txBody>
          <a:bodyPr wrap="square" lIns="0" tIns="0" rIns="0" bIns="0">
            <a:spAutoFit/>
          </a:bodyPr>
          <a:lstStyle/>
          <a:p>
            <a:pPr>
              <a:defRPr sz="3200" b="1">
                <a:solidFill>
                  <a:srgbClr val="FFFFFF"/>
                </a:solidFill>
                <a:latin typeface="Segoe UI"/>
              </a:defRPr>
            </a:pPr>
            <a:r>
              <a:t>Model 1: CASCADE (Graph Neural Network)</a:t>
            </a:r>
          </a:p>
        </p:txBody>
      </p:sp>
      <p:sp>
        <p:nvSpPr>
          <p:cNvPr id="4" name="Rectangle 3"/>
          <p:cNvSpPr/>
          <p:nvPr/>
        </p:nvSpPr>
        <p:spPr>
          <a:xfrm>
            <a:off x="731520" y="1188720"/>
            <a:ext cx="182880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12064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4572000" cy="4023360"/>
          </a:xfrm>
          <a:prstGeom prst="rect">
            <a:avLst/>
          </a:prstGeom>
          <a:noFill/>
        </p:spPr>
        <p:txBody>
          <a:bodyPr wrap="square" lIns="0" rIns="0" tIns="0" bIns="0">
            <a:spAutoFit/>
          </a:bodyPr>
          <a:lstStyle/>
          <a:p>
            <a:pPr>
              <a:spcBef>
                <a:spcPts val="0"/>
              </a:spcBef>
              <a:spcAft>
                <a:spcPts val="400"/>
              </a:spcAft>
              <a:defRPr sz="1500" b="1">
                <a:solidFill>
                  <a:srgbClr val="FFFFFF"/>
                </a:solidFill>
                <a:latin typeface="Segoe UI"/>
              </a:defRPr>
            </a:pPr>
            <a:r>
              <a:t>The Graph Neural Network (GNN):</a:t>
            </a:r>
          </a:p>
          <a:p>
            <a:pPr>
              <a:spcAft>
                <a:spcPts val="1000"/>
              </a:spcAft>
              <a:defRPr sz="1500">
                <a:solidFill>
                  <a:srgbClr val="E2E8F0"/>
                </a:solidFill>
                <a:latin typeface="Segoe UI"/>
              </a:defRPr>
            </a:pPr>
            <a:r>
              <a:t>• Based on a tf_keras/nfp GraphModel.</a:t>
            </a:r>
          </a:p>
          <a:p>
            <a:pPr>
              <a:spcAft>
                <a:spcPts val="1000"/>
              </a:spcAft>
              <a:defRPr sz="1500">
                <a:solidFill>
                  <a:srgbClr val="E2E8F0"/>
                </a:solidFill>
                <a:latin typeface="Segoe UI"/>
              </a:defRPr>
            </a:pPr>
            <a:r>
              <a:t>• Molecular representation as a mathematical graph:</a:t>
            </a:r>
          </a:p>
          <a:p>
            <a:pPr>
              <a:spcAft>
                <a:spcPts val="1000"/>
              </a:spcAft>
              <a:defRPr sz="1500">
                <a:solidFill>
                  <a:srgbClr val="E2E8F0"/>
                </a:solidFill>
                <a:latin typeface="Segoe UI"/>
              </a:defRPr>
            </a:pPr>
            <a:r>
              <a:t>  - Atoms = Nodes (atomic number, hybridization, charge)</a:t>
            </a:r>
          </a:p>
          <a:p>
            <a:pPr>
              <a:spcAft>
                <a:spcPts val="1000"/>
              </a:spcAft>
              <a:defRPr sz="1500">
                <a:solidFill>
                  <a:srgbClr val="E2E8F0"/>
                </a:solidFill>
                <a:latin typeface="Segoe UI"/>
              </a:defRPr>
            </a:pPr>
            <a:r>
              <a:t>  - Bonds = Edges (bond order, ring membership)</a:t>
            </a:r>
          </a:p>
          <a:p>
            <a:pPr>
              <a:spcAft>
                <a:spcPts val="1000"/>
              </a:spcAft>
              <a:defRPr sz="1500">
                <a:solidFill>
                  <a:srgbClr val="E2E8F0"/>
                </a:solidFill>
                <a:latin typeface="Segoe UI"/>
              </a:defRPr>
            </a:pPr>
            <a:r>
              <a:t>• Message-passing layers transfer electronic information across bonds.</a:t>
            </a:r>
          </a:p>
          <a:p>
            <a:pPr>
              <a:spcBef>
                <a:spcPts val="1000"/>
              </a:spcBef>
              <a:spcAft>
                <a:spcPts val="400"/>
              </a:spcAft>
              <a:defRPr sz="1500" b="1">
                <a:solidFill>
                  <a:srgbClr val="FFFFFF"/>
                </a:solidFill>
                <a:latin typeface="Segoe UI"/>
              </a:defRPr>
            </a:pPr>
            <a:r>
              <a:t>Model-Specific Boltzmann Ensemble:</a:t>
            </a:r>
          </a:p>
          <a:p>
            <a:pPr>
              <a:spcAft>
                <a:spcPts val="1000"/>
              </a:spcAft>
              <a:defRPr sz="1500">
                <a:solidFill>
                  <a:srgbClr val="E2E8F0"/>
                </a:solidFill>
                <a:latin typeface="Segoe UI"/>
              </a:defRPr>
            </a:pPr>
            <a:r>
              <a:t>• CASCADE generates its own conformers internally.</a:t>
            </a:r>
          </a:p>
          <a:p>
            <a:pPr>
              <a:spcAft>
                <a:spcPts val="1000"/>
              </a:spcAft>
              <a:defRPr sz="1500">
                <a:solidFill>
                  <a:srgbClr val="E2E8F0"/>
                </a:solidFill>
                <a:latin typeface="Segoe UI"/>
              </a:defRPr>
            </a:pPr>
            <a:r>
              <a:t>• Individual 3D predictions are weighted using relative MMFF force-field energies.</a:t>
            </a:r>
          </a:p>
          <a:p>
            <a:pPr>
              <a:spcAft>
                <a:spcPts val="1000"/>
              </a:spcAft>
              <a:defRPr sz="1500">
                <a:solidFill>
                  <a:srgbClr val="E2E8F0"/>
                </a:solidFill>
                <a:latin typeface="Segoe UI"/>
              </a:defRPr>
            </a:pPr>
            <a:r>
              <a:t>• Trained for standard organic elements: C, H, N, O, S, P, F, Cl.</a:t>
            </a:r>
          </a:p>
        </p:txBody>
      </p:sp>
      <p:sp>
        <p:nvSpPr>
          <p:cNvPr id="7" name="Rounded Rectangle 6"/>
          <p:cNvSpPr/>
          <p:nvPr/>
        </p:nvSpPr>
        <p:spPr>
          <a:xfrm>
            <a:off x="6309360" y="1645920"/>
            <a:ext cx="512064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920240"/>
            <a:ext cx="4572000" cy="4023360"/>
          </a:xfrm>
          <a:prstGeom prst="rect">
            <a:avLst/>
          </a:prstGeom>
          <a:noFill/>
        </p:spPr>
        <p:txBody>
          <a:bodyPr wrap="square" lIns="0" rIns="0" tIns="0" bIns="0">
            <a:spAutoFit/>
          </a:bodyPr>
          <a:lstStyle/>
          <a:p>
            <a:pPr>
              <a:spcAft>
                <a:spcPts val="1400"/>
              </a:spcAft>
              <a:defRPr sz="2000" b="1">
                <a:solidFill>
                  <a:srgbClr val="38BDF8"/>
                </a:solidFill>
                <a:latin typeface="Segoe UI"/>
              </a:defRPr>
            </a:pPr>
            <a:r>
              <a:t>Electronic Focus</a:t>
            </a:r>
          </a:p>
          <a:p>
            <a:pPr>
              <a:spcBef>
                <a:spcPts val="1000"/>
              </a:spcBef>
              <a:defRPr sz="1500">
                <a:solidFill>
                  <a:srgbClr val="E2E8F0"/>
                </a:solidFill>
                <a:latin typeface="Segoe UI"/>
              </a:defRPr>
            </a:pPr>
            <a:r>
              <a:t>CASCADE captures electronic effects (mesomerism, inductive effects) excellently because the neural network reads the molecular graph directly.</a:t>
            </a:r>
            <a:br/>
            <a:br/>
            <a:r>
              <a:t>It balances electronic charges robustly but is restricted to its training set elements.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914400"/>
          </a:xfrm>
          <a:prstGeom prst="rect">
            <a:avLst/>
          </a:prstGeom>
          <a:noFill/>
        </p:spPr>
        <p:txBody>
          <a:bodyPr wrap="square" lIns="0" tIns="0" rIns="0" bIns="0">
            <a:spAutoFit/>
          </a:bodyPr>
          <a:lstStyle/>
          <a:p>
            <a:pPr>
              <a:defRPr sz="3200" b="1">
                <a:solidFill>
                  <a:srgbClr val="FFFFFF"/>
                </a:solidFill>
                <a:latin typeface="Segoe UI"/>
              </a:defRPr>
            </a:pPr>
            <a:r>
              <a:t>Model 2: EST-NMR (3D PyTorch Neural Network)</a:t>
            </a:r>
          </a:p>
        </p:txBody>
      </p:sp>
      <p:sp>
        <p:nvSpPr>
          <p:cNvPr id="4" name="Rectangle 3"/>
          <p:cNvSpPr/>
          <p:nvPr/>
        </p:nvSpPr>
        <p:spPr>
          <a:xfrm>
            <a:off x="731520" y="1188720"/>
            <a:ext cx="182880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12064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4572000" cy="4023360"/>
          </a:xfrm>
          <a:prstGeom prst="rect">
            <a:avLst/>
          </a:prstGeom>
          <a:noFill/>
        </p:spPr>
        <p:txBody>
          <a:bodyPr wrap="square" lIns="0" rIns="0" tIns="0" bIns="0">
            <a:spAutoFit/>
          </a:bodyPr>
          <a:lstStyle/>
          <a:p>
            <a:pPr>
              <a:spcBef>
                <a:spcPts val="0"/>
              </a:spcBef>
              <a:spcAft>
                <a:spcPts val="400"/>
              </a:spcAft>
              <a:defRPr sz="1500" b="1">
                <a:solidFill>
                  <a:srgbClr val="FFFFFF"/>
                </a:solidFill>
                <a:latin typeface="Segoe UI"/>
              </a:defRPr>
            </a:pPr>
            <a:r>
              <a:t>The 3D Coordinate Model (PyTorch):</a:t>
            </a:r>
          </a:p>
          <a:p>
            <a:pPr>
              <a:spcAft>
                <a:spcPts val="1000"/>
              </a:spcAft>
              <a:defRPr sz="1500">
                <a:solidFill>
                  <a:srgbClr val="E2E8F0"/>
                </a:solidFill>
                <a:latin typeface="Segoe UI"/>
              </a:defRPr>
            </a:pPr>
            <a:r>
              <a:t>• Pre-trained PyTorch model ('DLNMR1.pt'), loaded via JIT.</a:t>
            </a:r>
          </a:p>
          <a:p>
            <a:pPr>
              <a:spcAft>
                <a:spcPts val="1000"/>
              </a:spcAft>
              <a:defRPr sz="1500">
                <a:solidFill>
                  <a:srgbClr val="E2E8F0"/>
                </a:solidFill>
                <a:latin typeface="Segoe UI"/>
              </a:defRPr>
            </a:pPr>
            <a:r>
              <a:t>• Operates directly on the three-dimensional atomic coordinates.</a:t>
            </a:r>
          </a:p>
          <a:p>
            <a:pPr>
              <a:spcAft>
                <a:spcPts val="1000"/>
              </a:spcAft>
              <a:defRPr sz="1500">
                <a:solidFill>
                  <a:srgbClr val="E2E8F0"/>
                </a:solidFill>
                <a:latin typeface="Segoe UI"/>
              </a:defRPr>
            </a:pPr>
            <a:r>
              <a:t>• Requires two tensors as input:</a:t>
            </a:r>
          </a:p>
          <a:p>
            <a:pPr>
              <a:spcAft>
                <a:spcPts val="1000"/>
              </a:spcAft>
              <a:defRPr sz="1500">
                <a:solidFill>
                  <a:srgbClr val="E2E8F0"/>
                </a:solidFill>
                <a:latin typeface="Segoe UI"/>
              </a:defRPr>
            </a:pPr>
            <a:r>
              <a:t>  - Z-Tensor: Atomic numbers (Z)</a:t>
            </a:r>
          </a:p>
          <a:p>
            <a:pPr>
              <a:spcAft>
                <a:spcPts val="1000"/>
              </a:spcAft>
              <a:defRPr sz="1500">
                <a:solidFill>
                  <a:srgbClr val="E2E8F0"/>
                </a:solidFill>
                <a:latin typeface="Segoe UI"/>
              </a:defRPr>
            </a:pPr>
            <a:r>
              <a:t>  - R-Tensor: Cartesian 3D coordinates (R)</a:t>
            </a:r>
          </a:p>
          <a:p>
            <a:pPr>
              <a:spcBef>
                <a:spcPts val="1000"/>
              </a:spcBef>
              <a:spcAft>
                <a:spcPts val="400"/>
              </a:spcAft>
              <a:defRPr sz="1500" b="1">
                <a:solidFill>
                  <a:srgbClr val="FFFFFF"/>
                </a:solidFill>
                <a:latin typeface="Segoe UI"/>
              </a:defRPr>
            </a:pPr>
            <a:r>
              <a:t>Two modes integrated in the app:</a:t>
            </a:r>
          </a:p>
          <a:p>
            <a:pPr>
              <a:spcBef>
                <a:spcPts val="1000"/>
              </a:spcBef>
              <a:spcAft>
                <a:spcPts val="400"/>
              </a:spcAft>
              <a:defRPr sz="1500" b="1">
                <a:solidFill>
                  <a:srgbClr val="FFFFFF"/>
                </a:solidFill>
                <a:latin typeface="Segoe UI"/>
              </a:defRPr>
            </a:pPr>
            <a:r>
              <a:t>1. EST-NMR (Single):</a:t>
            </a:r>
          </a:p>
          <a:p>
            <a:pPr>
              <a:spcAft>
                <a:spcPts val="1000"/>
              </a:spcAft>
              <a:defRPr sz="1500">
                <a:solidFill>
                  <a:srgbClr val="E2E8F0"/>
                </a:solidFill>
                <a:latin typeface="Segoe UI"/>
              </a:defRPr>
            </a:pPr>
            <a:r>
              <a:t>   Calculates shift for the most stable force-field conformer (minimum).</a:t>
            </a:r>
          </a:p>
          <a:p>
            <a:pPr>
              <a:spcBef>
                <a:spcPts val="1000"/>
              </a:spcBef>
              <a:spcAft>
                <a:spcPts val="400"/>
              </a:spcAft>
              <a:defRPr sz="1500" b="1">
                <a:solidFill>
                  <a:srgbClr val="FFFFFF"/>
                </a:solidFill>
                <a:latin typeface="Segoe UI"/>
              </a:defRPr>
            </a:pPr>
            <a:r>
              <a:t>2. EST-NMR (Boltz):</a:t>
            </a:r>
          </a:p>
          <a:p>
            <a:pPr>
              <a:spcAft>
                <a:spcPts val="1000"/>
              </a:spcAft>
              <a:defRPr sz="1500">
                <a:solidFill>
                  <a:srgbClr val="E2E8F0"/>
                </a:solidFill>
                <a:latin typeface="Segoe UI"/>
              </a:defRPr>
            </a:pPr>
            <a:r>
              <a:t>   Calculates shifts for all 10 RDKit conformers and computes the Boltzmann average.</a:t>
            </a:r>
          </a:p>
        </p:txBody>
      </p:sp>
      <p:sp>
        <p:nvSpPr>
          <p:cNvPr id="7" name="Rounded Rectangle 6"/>
          <p:cNvSpPr/>
          <p:nvPr/>
        </p:nvSpPr>
        <p:spPr>
          <a:xfrm>
            <a:off x="6309360" y="1645920"/>
            <a:ext cx="512064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920240"/>
            <a:ext cx="4572000" cy="4023360"/>
          </a:xfrm>
          <a:prstGeom prst="rect">
            <a:avLst/>
          </a:prstGeom>
          <a:noFill/>
        </p:spPr>
        <p:txBody>
          <a:bodyPr wrap="square" lIns="0" rIns="0" tIns="0" bIns="0">
            <a:spAutoFit/>
          </a:bodyPr>
          <a:lstStyle/>
          <a:p>
            <a:pPr>
              <a:spcAft>
                <a:spcPts val="1400"/>
              </a:spcAft>
              <a:defRPr sz="2000" b="1">
                <a:solidFill>
                  <a:srgbClr val="38BDF8"/>
                </a:solidFill>
                <a:latin typeface="Segoe UI"/>
              </a:defRPr>
            </a:pPr>
            <a:r>
              <a:t>Geometric Focus</a:t>
            </a:r>
          </a:p>
          <a:p>
            <a:pPr>
              <a:spcBef>
                <a:spcPts val="1000"/>
              </a:spcBef>
              <a:defRPr sz="1500">
                <a:solidFill>
                  <a:srgbClr val="E2E8F0"/>
                </a:solidFill>
                <a:latin typeface="Segoe UI"/>
              </a:defRPr>
            </a:pPr>
            <a:r>
              <a:t>EST-NMR is highly sensitive to geometry effects:</a:t>
            </a:r>
            <a:br/>
            <a:br/>
            <a:r>
              <a:t>• Steric hindrance</a:t>
            </a:r>
            <a:br/>
            <a:r>
              <a:t>• Ring and torsional strain</a:t>
            </a:r>
            <a:br/>
            <a:r>
              <a:t>• Stereochemical asymmetry</a:t>
            </a:r>
            <a:br/>
            <a:br/>
            <a:r>
              <a:t>The model works purely on coordinates and captures spatial effects that are invisible in flat graphs.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914400"/>
          </a:xfrm>
          <a:prstGeom prst="rect">
            <a:avLst/>
          </a:prstGeom>
          <a:noFill/>
        </p:spPr>
        <p:txBody>
          <a:bodyPr wrap="square" lIns="0" tIns="0" rIns="0" bIns="0">
            <a:spAutoFit/>
          </a:bodyPr>
          <a:lstStyle/>
          <a:p>
            <a:pPr>
              <a:defRPr sz="3200" b="1">
                <a:solidFill>
                  <a:srgbClr val="FFFFFF"/>
                </a:solidFill>
                <a:latin typeface="Segoe UI"/>
              </a:defRPr>
            </a:pPr>
            <a:r>
              <a:t>Model 3: DCode (Distance &amp; Topology Code)</a:t>
            </a:r>
          </a:p>
        </p:txBody>
      </p:sp>
      <p:sp>
        <p:nvSpPr>
          <p:cNvPr id="4" name="Rectangle 3"/>
          <p:cNvSpPr/>
          <p:nvPr/>
        </p:nvSpPr>
        <p:spPr>
          <a:xfrm>
            <a:off x="731520" y="1188720"/>
            <a:ext cx="182880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12064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4572000" cy="4023360"/>
          </a:xfrm>
          <a:prstGeom prst="rect">
            <a:avLst/>
          </a:prstGeom>
          <a:noFill/>
        </p:spPr>
        <p:txBody>
          <a:bodyPr wrap="square" lIns="0" rIns="0" tIns="0" bIns="0">
            <a:spAutoFit/>
          </a:bodyPr>
          <a:lstStyle/>
          <a:p>
            <a:pPr>
              <a:spcBef>
                <a:spcPts val="0"/>
              </a:spcBef>
              <a:spcAft>
                <a:spcPts val="400"/>
              </a:spcAft>
              <a:defRPr sz="1500" b="1">
                <a:solidFill>
                  <a:srgbClr val="FFFFFF"/>
                </a:solidFill>
                <a:latin typeface="Segoe UI"/>
              </a:defRPr>
            </a:pPr>
            <a:r>
              <a:t>Local Database Lookup (Empirical):</a:t>
            </a:r>
          </a:p>
          <a:p>
            <a:pPr>
              <a:spcAft>
                <a:spcPts val="1000"/>
              </a:spcAft>
              <a:defRPr sz="1500">
                <a:solidFill>
                  <a:srgbClr val="E2E8F0"/>
                </a:solidFill>
                <a:latin typeface="Segoe UI"/>
              </a:defRPr>
            </a:pPr>
            <a:r>
              <a:t>• Uses the topology code algorithm from the steto123/dcode repository.</a:t>
            </a:r>
          </a:p>
          <a:p>
            <a:pPr>
              <a:spcAft>
                <a:spcPts val="1000"/>
              </a:spcAft>
              <a:defRPr sz="1500">
                <a:solidFill>
                  <a:srgbClr val="E2E8F0"/>
                </a:solidFill>
                <a:latin typeface="Segoe UI"/>
              </a:defRPr>
            </a:pPr>
            <a:r>
              <a:t>• Searches a local ~47 MB CSV knowledge database (v3_update_23_10_2025.csv).</a:t>
            </a:r>
          </a:p>
          <a:p>
            <a:pPr>
              <a:spcBef>
                <a:spcPts val="1000"/>
              </a:spcBef>
              <a:spcAft>
                <a:spcPts val="400"/>
              </a:spcAft>
              <a:defRPr sz="1500" b="1">
                <a:solidFill>
                  <a:srgbClr val="FFFFFF"/>
                </a:solidFill>
                <a:latin typeface="Segoe UI"/>
              </a:defRPr>
            </a:pPr>
            <a:r>
              <a:t>Generating the Topology String Code:</a:t>
            </a:r>
          </a:p>
          <a:p>
            <a:pPr>
              <a:spcAft>
                <a:spcPts val="1000"/>
              </a:spcAft>
              <a:defRPr sz="1500">
                <a:solidFill>
                  <a:srgbClr val="E2E8F0"/>
                </a:solidFill>
                <a:latin typeface="Segoe UI"/>
              </a:defRPr>
            </a:pPr>
            <a:r>
              <a:t>• For each carbon atom in a 3D conformer, the environment is analyzed.</a:t>
            </a:r>
          </a:p>
          <a:p>
            <a:pPr>
              <a:spcAft>
                <a:spcPts val="1000"/>
              </a:spcAft>
              <a:defRPr sz="1500">
                <a:solidFill>
                  <a:srgbClr val="E2E8F0"/>
                </a:solidFill>
                <a:latin typeface="Segoe UI"/>
              </a:defRPr>
            </a:pPr>
            <a:r>
              <a:t>• Captures all neighbor atoms and their types within a 6 Ångström radius.</a:t>
            </a:r>
          </a:p>
          <a:p>
            <a:pPr>
              <a:spcAft>
                <a:spcPts val="1000"/>
              </a:spcAft>
              <a:defRPr sz="1500">
                <a:solidFill>
                  <a:srgbClr val="E2E8F0"/>
                </a:solidFill>
                <a:latin typeface="Segoe UI"/>
              </a:defRPr>
            </a:pPr>
            <a:r>
              <a:t>• Encodes this data into a unique string (e.g., 'C4rn@...').</a:t>
            </a:r>
          </a:p>
          <a:p>
            <a:pPr>
              <a:spcBef>
                <a:spcPts val="1000"/>
              </a:spcBef>
              <a:spcAft>
                <a:spcPts val="400"/>
              </a:spcAft>
              <a:defRPr sz="1500" b="1">
                <a:solidFill>
                  <a:srgbClr val="FFFFFF"/>
                </a:solidFill>
                <a:latin typeface="Segoe UI"/>
              </a:defRPr>
            </a:pPr>
            <a:r>
              <a:t>Result Calculation:</a:t>
            </a:r>
          </a:p>
          <a:p>
            <a:pPr>
              <a:spcAft>
                <a:spcPts val="1000"/>
              </a:spcAft>
              <a:defRPr sz="1500">
                <a:solidFill>
                  <a:srgbClr val="E2E8F0"/>
                </a:solidFill>
                <a:latin typeface="Segoe UI"/>
              </a:defRPr>
            </a:pPr>
            <a:r>
              <a:t>• On an exact match in the database, it retrieves the measured empirical average shift.</a:t>
            </a:r>
          </a:p>
          <a:p>
            <a:pPr>
              <a:spcAft>
                <a:spcPts val="1000"/>
              </a:spcAft>
              <a:defRPr sz="1500">
                <a:solidFill>
                  <a:srgbClr val="E2E8F0"/>
                </a:solidFill>
                <a:latin typeface="Segoe UI"/>
              </a:defRPr>
            </a:pPr>
            <a:r>
              <a:t>• Boltzmann-averaging over 10 conformers ensures dynamic scaling.</a:t>
            </a:r>
          </a:p>
        </p:txBody>
      </p:sp>
      <p:sp>
        <p:nvSpPr>
          <p:cNvPr id="7" name="Rounded Rectangle 6"/>
          <p:cNvSpPr/>
          <p:nvPr/>
        </p:nvSpPr>
        <p:spPr>
          <a:xfrm>
            <a:off x="6309360" y="1645920"/>
            <a:ext cx="512064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920240"/>
            <a:ext cx="4572000" cy="4023360"/>
          </a:xfrm>
          <a:prstGeom prst="rect">
            <a:avLst/>
          </a:prstGeom>
          <a:noFill/>
        </p:spPr>
        <p:txBody>
          <a:bodyPr wrap="square" lIns="0" rIns="0" tIns="0" bIns="0">
            <a:spAutoFit/>
          </a:bodyPr>
          <a:lstStyle/>
          <a:p>
            <a:pPr>
              <a:spcAft>
                <a:spcPts val="1400"/>
              </a:spcAft>
              <a:defRPr sz="2000" b="1">
                <a:solidFill>
                  <a:srgbClr val="38BDF8"/>
                </a:solidFill>
                <a:latin typeface="Segoe UI"/>
              </a:defRPr>
            </a:pPr>
            <a:r>
              <a:t>Empirical Focus</a:t>
            </a:r>
          </a:p>
          <a:p>
            <a:pPr>
              <a:spcBef>
                <a:spcPts val="1000"/>
              </a:spcBef>
              <a:defRPr sz="1500">
                <a:solidFill>
                  <a:srgbClr val="E2E8F0"/>
                </a:solidFill>
                <a:latin typeface="Segoe UI"/>
              </a:defRPr>
            </a:pPr>
            <a:r>
              <a:t>DCode is highly accurate because it directly queries real experimental measurement data of fragments.</a:t>
            </a:r>
            <a:br/>
            <a:br/>
            <a:r>
              <a:t>Limitation:</a:t>
            </a:r>
            <a:br/>
            <a:r>
              <a:t>For completely new functional groups or fragments, no database entry exists. DCode then returns 'NaN' (no match).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914400"/>
          </a:xfrm>
          <a:prstGeom prst="rect">
            <a:avLst/>
          </a:prstGeom>
          <a:noFill/>
        </p:spPr>
        <p:txBody>
          <a:bodyPr wrap="square" lIns="0" tIns="0" rIns="0" bIns="0">
            <a:spAutoFit/>
          </a:bodyPr>
          <a:lstStyle/>
          <a:p>
            <a:pPr>
              <a:defRPr sz="3200" b="1">
                <a:solidFill>
                  <a:srgbClr val="FFFFFF"/>
                </a:solidFill>
                <a:latin typeface="Segoe UI"/>
              </a:defRPr>
            </a:pPr>
            <a:r>
              <a:t>Physics-based Ensemble: Conformers &amp; Boltzmann</a:t>
            </a:r>
          </a:p>
        </p:txBody>
      </p:sp>
      <p:sp>
        <p:nvSpPr>
          <p:cNvPr id="4" name="Rectangle 3"/>
          <p:cNvSpPr/>
          <p:nvPr/>
        </p:nvSpPr>
        <p:spPr>
          <a:xfrm>
            <a:off x="731520" y="1188720"/>
            <a:ext cx="182880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12064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4572000" cy="4023360"/>
          </a:xfrm>
          <a:prstGeom prst="rect">
            <a:avLst/>
          </a:prstGeom>
          <a:noFill/>
        </p:spPr>
        <p:txBody>
          <a:bodyPr wrap="square" lIns="0" rIns="0" tIns="0" bIns="0">
            <a:spAutoFit/>
          </a:bodyPr>
          <a:lstStyle/>
          <a:p>
            <a:pPr>
              <a:spcBef>
                <a:spcPts val="0"/>
              </a:spcBef>
              <a:spcAft>
                <a:spcPts val="400"/>
              </a:spcAft>
              <a:defRPr sz="1500" b="1">
                <a:solidFill>
                  <a:srgbClr val="FFFFFF"/>
                </a:solidFill>
                <a:latin typeface="Segoe UI"/>
              </a:defRPr>
            </a:pPr>
            <a:r>
              <a:t>Thermodynamic Representation:</a:t>
            </a:r>
          </a:p>
          <a:p>
            <a:pPr>
              <a:spcAft>
                <a:spcPts val="1000"/>
              </a:spcAft>
              <a:defRPr sz="1500">
                <a:solidFill>
                  <a:srgbClr val="E2E8F0"/>
                </a:solidFill>
                <a:latin typeface="Segoe UI"/>
              </a:defRPr>
            </a:pPr>
            <a:r>
              <a:t>• In solution, molecules exist as dynamic ensembles of different conformers, not rigid structures.</a:t>
            </a:r>
          </a:p>
          <a:p>
            <a:pPr>
              <a:spcBef>
                <a:spcPts val="1000"/>
              </a:spcBef>
              <a:spcAft>
                <a:spcPts val="400"/>
              </a:spcAft>
              <a:defRPr sz="1500" b="1">
                <a:solidFill>
                  <a:srgbClr val="FFFFFF"/>
                </a:solidFill>
                <a:latin typeface="Segoe UI"/>
              </a:defRPr>
            </a:pPr>
            <a:r>
              <a:t>1. Geometry Generation:</a:t>
            </a:r>
          </a:p>
          <a:p>
            <a:pPr>
              <a:spcAft>
                <a:spcPts val="1000"/>
              </a:spcAft>
              <a:defRPr sz="1500">
                <a:solidFill>
                  <a:srgbClr val="E2E8F0"/>
                </a:solidFill>
                <a:latin typeface="Segoe UI"/>
              </a:defRPr>
            </a:pPr>
            <a:r>
              <a:t>   RDKit generates 10 3D structures via distance geometry.</a:t>
            </a:r>
          </a:p>
          <a:p>
            <a:pPr>
              <a:spcBef>
                <a:spcPts val="1000"/>
              </a:spcBef>
              <a:spcAft>
                <a:spcPts val="400"/>
              </a:spcAft>
              <a:defRPr sz="1500" b="1">
                <a:solidFill>
                  <a:srgbClr val="FFFFFF"/>
                </a:solidFill>
                <a:latin typeface="Segoe UI"/>
              </a:defRPr>
            </a:pPr>
            <a:r>
              <a:t>2. Force-Field Minimization:</a:t>
            </a:r>
          </a:p>
          <a:p>
            <a:pPr>
              <a:spcAft>
                <a:spcPts val="1000"/>
              </a:spcAft>
              <a:defRPr sz="1500">
                <a:solidFill>
                  <a:srgbClr val="E2E8F0"/>
                </a:solidFill>
                <a:latin typeface="Segoe UI"/>
              </a:defRPr>
            </a:pPr>
            <a:r>
              <a:t>   Optimizes all geometries in the MMFF94 force field to find absolute energy E_i.</a:t>
            </a:r>
          </a:p>
          <a:p>
            <a:pPr>
              <a:spcBef>
                <a:spcPts val="1000"/>
              </a:spcBef>
              <a:spcAft>
                <a:spcPts val="400"/>
              </a:spcAft>
              <a:defRPr sz="1500" b="1">
                <a:solidFill>
                  <a:srgbClr val="FFFFFF"/>
                </a:solidFill>
                <a:latin typeface="Segoe UI"/>
              </a:defRPr>
            </a:pPr>
            <a:r>
              <a:t>3. Relative Energy Calculation:</a:t>
            </a:r>
          </a:p>
          <a:p>
            <a:pPr>
              <a:spcAft>
                <a:spcPts val="1000"/>
              </a:spcAft>
              <a:defRPr sz="1500">
                <a:solidFill>
                  <a:srgbClr val="E2E8F0"/>
                </a:solidFill>
                <a:latin typeface="Segoe UI"/>
              </a:defRPr>
            </a:pPr>
            <a:r>
              <a:t>   dE_i = E_i - E_min (relative to the most stable conformer).</a:t>
            </a:r>
          </a:p>
        </p:txBody>
      </p:sp>
      <p:sp>
        <p:nvSpPr>
          <p:cNvPr id="7" name="Rounded Rectangle 6"/>
          <p:cNvSpPr/>
          <p:nvPr/>
        </p:nvSpPr>
        <p:spPr>
          <a:xfrm>
            <a:off x="6309360" y="1645920"/>
            <a:ext cx="512064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920240"/>
            <a:ext cx="4572000" cy="4023360"/>
          </a:xfrm>
          <a:prstGeom prst="rect">
            <a:avLst/>
          </a:prstGeom>
          <a:noFill/>
        </p:spPr>
        <p:txBody>
          <a:bodyPr wrap="square" lIns="0" rIns="0" tIns="0" bIns="0">
            <a:spAutoFit/>
          </a:bodyPr>
          <a:lstStyle/>
          <a:p>
            <a:pPr>
              <a:spcAft>
                <a:spcPts val="1400"/>
              </a:spcAft>
              <a:defRPr sz="2000" b="1">
                <a:solidFill>
                  <a:srgbClr val="38BDF8"/>
                </a:solidFill>
                <a:latin typeface="Segoe UI"/>
              </a:defRPr>
            </a:pPr>
            <a:r>
              <a:t>Boltzmann Weighting</a:t>
            </a:r>
          </a:p>
          <a:p>
            <a:pPr>
              <a:spcBef>
                <a:spcPts val="1000"/>
              </a:spcBef>
              <a:defRPr sz="1500">
                <a:solidFill>
                  <a:srgbClr val="E2E8F0"/>
                </a:solidFill>
                <a:latin typeface="Segoe UI"/>
              </a:defRPr>
            </a:pPr>
            <a:r>
              <a:t>Relative stability determines the contribution of each conformer to the final signal:</a:t>
            </a:r>
            <a:br/>
            <a:br/>
            <a:r>
              <a:t>  w_i = exp(-dE_i / R*T) / sum( exp(-dE_j / R*T) )</a:t>
            </a:r>
            <a:br/>
            <a:br/>
            <a:r>
              <a:t>Parameters at room temperature (25°C):</a:t>
            </a:r>
            <a:br/>
            <a:r>
              <a:t>• T = 298.15 Kelvin</a:t>
            </a:r>
            <a:br/>
            <a:r>
              <a:t>• R = 0.001987 kcal / (mol * K)</a:t>
            </a:r>
            <a:br/>
            <a:r>
              <a:t>• R * T ≈ 0.5924 kcal / mol</a:t>
            </a:r>
            <a:br/>
            <a:br/>
            <a:r>
              <a:t>High-energy conformers (dE &gt; 3 kcal/mol) contribute less than 1% and are suppressed.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914400"/>
          </a:xfrm>
          <a:prstGeom prst="rect">
            <a:avLst/>
          </a:prstGeom>
          <a:noFill/>
        </p:spPr>
        <p:txBody>
          <a:bodyPr wrap="square" lIns="0" tIns="0" rIns="0" bIns="0">
            <a:spAutoFit/>
          </a:bodyPr>
          <a:lstStyle/>
          <a:p>
            <a:pPr>
              <a:defRPr sz="3200" b="1">
                <a:solidFill>
                  <a:srgbClr val="FFFFFF"/>
                </a:solidFill>
                <a:latin typeface="Segoe UI"/>
              </a:defRPr>
            </a:pPr>
            <a:r>
              <a:t>Quality Assurance: The Range Metric (Spannweite)</a:t>
            </a:r>
          </a:p>
        </p:txBody>
      </p:sp>
      <p:sp>
        <p:nvSpPr>
          <p:cNvPr id="4" name="Rectangle 3"/>
          <p:cNvSpPr/>
          <p:nvPr/>
        </p:nvSpPr>
        <p:spPr>
          <a:xfrm>
            <a:off x="731520" y="1188720"/>
            <a:ext cx="182880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12064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4572000" cy="4023360"/>
          </a:xfrm>
          <a:prstGeom prst="rect">
            <a:avLst/>
          </a:prstGeom>
          <a:noFill/>
        </p:spPr>
        <p:txBody>
          <a:bodyPr wrap="square" lIns="0" rIns="0" tIns="0" bIns="0">
            <a:spAutoFit/>
          </a:bodyPr>
          <a:lstStyle/>
          <a:p>
            <a:pPr>
              <a:spcBef>
                <a:spcPts val="0"/>
              </a:spcBef>
              <a:spcAft>
                <a:spcPts val="400"/>
              </a:spcAft>
              <a:defRPr sz="1500" b="1">
                <a:solidFill>
                  <a:srgbClr val="FFFFFF"/>
                </a:solidFill>
                <a:latin typeface="Segoe UI"/>
              </a:defRPr>
            </a:pPr>
            <a:r>
              <a:t>Estimating Model Uncertainty:</a:t>
            </a:r>
          </a:p>
          <a:p>
            <a:pPr>
              <a:spcAft>
                <a:spcPts val="1000"/>
              </a:spcAft>
              <a:defRPr sz="1500">
                <a:solidFill>
                  <a:srgbClr val="E2E8F0"/>
                </a:solidFill>
                <a:latin typeface="Segoe UI"/>
              </a:defRPr>
            </a:pPr>
            <a:r>
              <a:t>• Collects predictions from all models (CASCADE, EST-NMR, EST-NMR Boltz, DCode) for each carbon atom.</a:t>
            </a:r>
          </a:p>
          <a:p>
            <a:pPr>
              <a:spcAft>
                <a:spcPts val="1000"/>
              </a:spcAft>
              <a:defRPr sz="1500">
                <a:solidFill>
                  <a:srgbClr val="E2E8F0"/>
                </a:solidFill>
                <a:latin typeface="Segoe UI"/>
              </a:defRPr>
            </a:pPr>
            <a:r>
              <a:t>• The Range (Spannweite) is calculated per atom:</a:t>
            </a:r>
          </a:p>
          <a:p>
            <a:pPr>
              <a:spcAft>
                <a:spcPts val="1000"/>
              </a:spcAft>
              <a:defRPr sz="1500">
                <a:solidFill>
                  <a:srgbClr val="E2E8F0"/>
                </a:solidFill>
                <a:latin typeface="Segoe UI"/>
              </a:defRPr>
            </a:pPr>
            <a:r>
              <a:t>  Range = Max(Predicted Shifts) - Min(Predicted Shifts)</a:t>
            </a:r>
          </a:p>
          <a:p>
            <a:pPr>
              <a:spcAft>
                <a:spcPts val="1000"/>
              </a:spcAft>
              <a:defRPr sz="1500">
                <a:solidFill>
                  <a:srgbClr val="E2E8F0"/>
                </a:solidFill>
                <a:latin typeface="Segoe UI"/>
              </a:defRPr>
            </a:pPr>
            <a:r>
              <a:t>• A threshold of 5.0 ppm serves as a quality boundary.</a:t>
            </a:r>
          </a:p>
          <a:p>
            <a:pPr>
              <a:spcBef>
                <a:spcPts val="1000"/>
              </a:spcBef>
              <a:spcAft>
                <a:spcPts val="400"/>
              </a:spcAft>
              <a:defRPr sz="1500" b="1">
                <a:solidFill>
                  <a:srgbClr val="FFFFFF"/>
                </a:solidFill>
                <a:latin typeface="Segoe UI"/>
              </a:defRPr>
            </a:pPr>
            <a:r>
              <a:t>Visualization in the UI:</a:t>
            </a:r>
          </a:p>
          <a:p>
            <a:pPr>
              <a:spcAft>
                <a:spcPts val="1000"/>
              </a:spcAft>
              <a:defRPr sz="1500">
                <a:solidFill>
                  <a:srgbClr val="E2E8F0"/>
                </a:solidFill>
                <a:latin typeface="Segoe UI"/>
              </a:defRPr>
            </a:pPr>
            <a:r>
              <a:t>• If the range exceeds 5.0 ppm, the table cell is highlighted in red/orange.</a:t>
            </a:r>
          </a:p>
          <a:p>
            <a:pPr>
              <a:spcAft>
                <a:spcPts val="1000"/>
              </a:spcAft>
              <a:defRPr sz="1500">
                <a:solidFill>
                  <a:srgbClr val="E2E8F0"/>
                </a:solidFill>
                <a:latin typeface="Segoe UI"/>
              </a:defRPr>
            </a:pPr>
            <a:r>
              <a:t>• A warning symbol (⚠️) alerts the user to potential inaccuracy.</a:t>
            </a:r>
          </a:p>
        </p:txBody>
      </p:sp>
      <p:sp>
        <p:nvSpPr>
          <p:cNvPr id="7" name="Rounded Rectangle 6"/>
          <p:cNvSpPr/>
          <p:nvPr/>
        </p:nvSpPr>
        <p:spPr>
          <a:xfrm>
            <a:off x="6309360" y="1645920"/>
            <a:ext cx="512064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920240"/>
            <a:ext cx="4572000" cy="4023360"/>
          </a:xfrm>
          <a:prstGeom prst="rect">
            <a:avLst/>
          </a:prstGeom>
          <a:noFill/>
        </p:spPr>
        <p:txBody>
          <a:bodyPr wrap="square" lIns="0" rIns="0" tIns="0" bIns="0">
            <a:spAutoFit/>
          </a:bodyPr>
          <a:lstStyle/>
          <a:p>
            <a:pPr>
              <a:spcAft>
                <a:spcPts val="1400"/>
              </a:spcAft>
              <a:defRPr sz="2000" b="1">
                <a:solidFill>
                  <a:srgbClr val="38BDF8"/>
                </a:solidFill>
                <a:latin typeface="Segoe UI"/>
              </a:defRPr>
            </a:pPr>
            <a:r>
              <a:t>Discrepancy Warning from 5.0 ppm</a:t>
            </a:r>
          </a:p>
          <a:p>
            <a:pPr>
              <a:spcBef>
                <a:spcPts val="1000"/>
              </a:spcBef>
              <a:defRPr sz="1500">
                <a:solidFill>
                  <a:srgbClr val="E2E8F0"/>
                </a:solidFill>
                <a:latin typeface="Segoe UI"/>
              </a:defRPr>
            </a:pPr>
            <a:r>
              <a:t>The Range metric acts as a direct uncertainty indicator for the user:</a:t>
            </a:r>
            <a:br/>
            <a:br/>
            <a:r>
              <a:t>• Alerts to unusual electronic effects</a:t>
            </a:r>
            <a:br/>
            <a:r>
              <a:t>• Highlights steric hindrance or ring strain</a:t>
            </a:r>
            <a:br/>
            <a:r>
              <a:t>• Marks local errors in the force-field geometry</a:t>
            </a:r>
            <a:br/>
            <a:br/>
            <a:r>
              <a:t>Models automatically diverge at difficult centers, guiding the expert to check them manually.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914400"/>
          </a:xfrm>
          <a:prstGeom prst="rect">
            <a:avLst/>
          </a:prstGeom>
          <a:noFill/>
        </p:spPr>
        <p:txBody>
          <a:bodyPr wrap="square" lIns="0" tIns="0" rIns="0" bIns="0">
            <a:spAutoFit/>
          </a:bodyPr>
          <a:lstStyle/>
          <a:p>
            <a:pPr>
              <a:defRPr sz="3200" b="1">
                <a:solidFill>
                  <a:srgbClr val="FFFFFF"/>
                </a:solidFill>
                <a:latin typeface="Segoe UI"/>
              </a:defRPr>
            </a:pPr>
            <a:r>
              <a:t>Chemical Equivalence: Symmetry Averaging</a:t>
            </a:r>
          </a:p>
        </p:txBody>
      </p:sp>
      <p:sp>
        <p:nvSpPr>
          <p:cNvPr id="4" name="Rectangle 3"/>
          <p:cNvSpPr/>
          <p:nvPr/>
        </p:nvSpPr>
        <p:spPr>
          <a:xfrm>
            <a:off x="731520" y="1188720"/>
            <a:ext cx="182880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12064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4572000" cy="4023360"/>
          </a:xfrm>
          <a:prstGeom prst="rect">
            <a:avLst/>
          </a:prstGeom>
          <a:noFill/>
        </p:spPr>
        <p:txBody>
          <a:bodyPr wrap="square" lIns="0" rIns="0" tIns="0" bIns="0">
            <a:spAutoFit/>
          </a:bodyPr>
          <a:lstStyle/>
          <a:p>
            <a:pPr>
              <a:spcBef>
                <a:spcPts val="0"/>
              </a:spcBef>
              <a:spcAft>
                <a:spcPts val="400"/>
              </a:spcAft>
              <a:defRPr sz="1500" b="1">
                <a:solidFill>
                  <a:srgbClr val="FFFFFF"/>
                </a:solidFill>
                <a:latin typeface="Segoe UI"/>
              </a:defRPr>
            </a:pPr>
            <a:r>
              <a:t>The Problem of Asymmetric 3D Geometries:</a:t>
            </a:r>
          </a:p>
          <a:p>
            <a:pPr>
              <a:spcAft>
                <a:spcPts val="1000"/>
              </a:spcAft>
              <a:defRPr sz="1500">
                <a:solidFill>
                  <a:srgbClr val="E2E8F0"/>
                </a:solidFill>
                <a:latin typeface="Segoe UI"/>
              </a:defRPr>
            </a:pPr>
            <a:r>
              <a:t>• In solution, chemically equivalent atoms (e.g. rotating methyl groups) have the exact same shift.</a:t>
            </a:r>
          </a:p>
          <a:p>
            <a:pPr>
              <a:spcAft>
                <a:spcPts val="1000"/>
              </a:spcAft>
              <a:defRPr sz="1500">
                <a:solidFill>
                  <a:srgbClr val="E2E8F0"/>
                </a:solidFill>
                <a:latin typeface="Segoe UI"/>
              </a:defRPr>
            </a:pPr>
            <a:r>
              <a:t>• However, static 3D force-field geometries always show small asymmetric distortions.</a:t>
            </a:r>
          </a:p>
          <a:p>
            <a:pPr>
              <a:spcAft>
                <a:spcPts val="1000"/>
              </a:spcAft>
              <a:defRPr sz="1500">
                <a:solidFill>
                  <a:srgbClr val="E2E8F0"/>
                </a:solidFill>
                <a:latin typeface="Segoe UI"/>
              </a:defRPr>
            </a:pPr>
            <a:r>
              <a:t>• Consequently, 3D models yield slightly different shifts for equivalent atoms.</a:t>
            </a:r>
          </a:p>
          <a:p>
            <a:pPr>
              <a:spcBef>
                <a:spcPts val="1000"/>
              </a:spcBef>
              <a:spcAft>
                <a:spcPts val="400"/>
              </a:spcAft>
              <a:defRPr sz="1500" b="1">
                <a:solidFill>
                  <a:srgbClr val="FFFFFF"/>
                </a:solidFill>
                <a:latin typeface="Segoe UI"/>
              </a:defRPr>
            </a:pPr>
            <a:r>
              <a:t>Solution: Hybrid Symmetry Detection:</a:t>
            </a:r>
          </a:p>
          <a:p>
            <a:pPr>
              <a:spcAft>
                <a:spcPts val="1000"/>
              </a:spcAft>
              <a:defRPr sz="1500">
                <a:solidFill>
                  <a:srgbClr val="E2E8F0"/>
                </a:solidFill>
                <a:latin typeface="Segoe UI"/>
              </a:defRPr>
            </a:pPr>
            <a:r>
              <a:t>• Optional averaging of predicted shifts for chemically equivalent atoms.</a:t>
            </a:r>
          </a:p>
        </p:txBody>
      </p:sp>
      <p:sp>
        <p:nvSpPr>
          <p:cNvPr id="7" name="Rounded Rectangle 6"/>
          <p:cNvSpPr/>
          <p:nvPr/>
        </p:nvSpPr>
        <p:spPr>
          <a:xfrm>
            <a:off x="6309360" y="1645920"/>
            <a:ext cx="512064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920240"/>
            <a:ext cx="4572000" cy="4023360"/>
          </a:xfrm>
          <a:prstGeom prst="rect">
            <a:avLst/>
          </a:prstGeom>
          <a:noFill/>
        </p:spPr>
        <p:txBody>
          <a:bodyPr wrap="square" lIns="0" rIns="0" tIns="0" bIns="0">
            <a:spAutoFit/>
          </a:bodyPr>
          <a:lstStyle/>
          <a:p>
            <a:pPr>
              <a:spcAft>
                <a:spcPts val="1400"/>
              </a:spcAft>
              <a:defRPr sz="2000" b="1">
                <a:solidFill>
                  <a:srgbClr val="38BDF8"/>
                </a:solidFill>
                <a:latin typeface="Segoe UI"/>
              </a:defRPr>
            </a:pPr>
            <a:r>
              <a:t>2D/3D Hybrid Method</a:t>
            </a:r>
          </a:p>
          <a:p>
            <a:pPr>
              <a:spcBef>
                <a:spcPts val="1000"/>
              </a:spcBef>
              <a:defRPr sz="1500">
                <a:solidFill>
                  <a:srgbClr val="E2E8F0"/>
                </a:solidFill>
                <a:latin typeface="Segoe UI"/>
              </a:defRPr>
            </a:pPr>
            <a:r>
              <a:t>The app's two-step symmetry algorithm:</a:t>
            </a:r>
            <a:br/>
            <a:br/>
            <a:r>
              <a:t>1. Topological Ranking (2D):</a:t>
            </a:r>
            <a:br/>
            <a:r>
              <a:t>   Uses RDKit CanonicalRankAtoms, including stereochemical centers.</a:t>
            </a:r>
            <a:br/>
            <a:br/>
            <a:r>
              <a:t>2. Geometrical Refinement (3D):</a:t>
            </a:r>
            <a:br/>
            <a:r>
              <a:t>   Compares atomic distance profiles in the most stable 3D conformation.</a:t>
            </a:r>
            <a:br/>
            <a:r>
              <a:t>   Groups atoms only if the spatial distance discrepancy is below 0.4 Ångström.</a:t>
            </a:r>
            <a:br/>
            <a:br/>
            <a:r>
              <a:t>Benefit:</a:t>
            </a:r>
            <a:br/>
            <a:r>
              <a:t>Rotating groups are averaged, while rigid cis/trans isomers remain correctly separated.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914400"/>
          </a:xfrm>
          <a:prstGeom prst="rect">
            <a:avLst/>
          </a:prstGeom>
          <a:noFill/>
        </p:spPr>
        <p:txBody>
          <a:bodyPr wrap="square" lIns="0" tIns="0" rIns="0" bIns="0">
            <a:spAutoFit/>
          </a:bodyPr>
          <a:lstStyle/>
          <a:p>
            <a:pPr>
              <a:defRPr sz="3200" b="1">
                <a:solidFill>
                  <a:srgbClr val="FFFFFF"/>
                </a:solidFill>
                <a:latin typeface="Segoe UI"/>
              </a:defRPr>
            </a:pPr>
            <a:r>
              <a:t>Automated Validation: Auto-MAE</a:t>
            </a:r>
          </a:p>
        </p:txBody>
      </p:sp>
      <p:sp>
        <p:nvSpPr>
          <p:cNvPr id="4" name="Rectangle 3"/>
          <p:cNvSpPr/>
          <p:nvPr/>
        </p:nvSpPr>
        <p:spPr>
          <a:xfrm>
            <a:off x="731520" y="1188720"/>
            <a:ext cx="182880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12064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4572000" cy="4023360"/>
          </a:xfrm>
          <a:prstGeom prst="rect">
            <a:avLst/>
          </a:prstGeom>
          <a:noFill/>
        </p:spPr>
        <p:txBody>
          <a:bodyPr wrap="square" lIns="0" rIns="0" tIns="0" bIns="0">
            <a:spAutoFit/>
          </a:bodyPr>
          <a:lstStyle/>
          <a:p>
            <a:pPr>
              <a:spcBef>
                <a:spcPts val="0"/>
              </a:spcBef>
              <a:spcAft>
                <a:spcPts val="400"/>
              </a:spcAft>
              <a:defRPr sz="1500" b="1">
                <a:solidFill>
                  <a:srgbClr val="FFFFFF"/>
                </a:solidFill>
                <a:latin typeface="Segoe UI"/>
              </a:defRPr>
            </a:pPr>
            <a:r>
              <a:t>The Experimental Validation Problem:</a:t>
            </a:r>
          </a:p>
          <a:p>
            <a:pPr>
              <a:spcAft>
                <a:spcPts val="1000"/>
              </a:spcAft>
              <a:defRPr sz="1500">
                <a:solidFill>
                  <a:srgbClr val="E2E8F0"/>
                </a:solidFill>
                <a:latin typeface="Segoe UI"/>
              </a:defRPr>
            </a:pPr>
            <a:r>
              <a:t>• An experimental NMR spectrum provides only an unordered list of peak shifts.</a:t>
            </a:r>
          </a:p>
          <a:p>
            <a:pPr>
              <a:spcAft>
                <a:spcPts val="1000"/>
              </a:spcAft>
              <a:defRPr sz="1500">
                <a:solidFill>
                  <a:srgbClr val="E2E8F0"/>
                </a:solidFill>
                <a:latin typeface="Segoe UI"/>
              </a:defRPr>
            </a:pPr>
            <a:r>
              <a:t>• There is no inherent information showing which peak belongs to which carbon atom.</a:t>
            </a:r>
          </a:p>
          <a:p>
            <a:pPr>
              <a:spcBef>
                <a:spcPts val="1000"/>
              </a:spcBef>
              <a:spcAft>
                <a:spcPts val="400"/>
              </a:spcAft>
              <a:defRPr sz="1500" b="1">
                <a:solidFill>
                  <a:srgbClr val="FFFFFF"/>
                </a:solidFill>
                <a:latin typeface="Segoe UI"/>
              </a:defRPr>
            </a:pPr>
            <a:r>
              <a:t>Solution: Ordinal Matching (Bally &amp; Rablen 2011):</a:t>
            </a:r>
          </a:p>
          <a:p>
            <a:pPr>
              <a:spcAft>
                <a:spcPts val="1000"/>
              </a:spcAft>
              <a:defRPr sz="1500">
                <a:solidFill>
                  <a:srgbClr val="E2E8F0"/>
                </a:solidFill>
                <a:latin typeface="Segoe UI"/>
              </a:defRPr>
            </a:pPr>
            <a:r>
              <a:t>• Experimental peaks and predicted shifts are independently sorted in descending order.</a:t>
            </a:r>
          </a:p>
          <a:p>
            <a:pPr>
              <a:spcAft>
                <a:spcPts val="1000"/>
              </a:spcAft>
              <a:defRPr sz="1500">
                <a:solidFill>
                  <a:srgbClr val="E2E8F0"/>
                </a:solidFill>
                <a:latin typeface="Segoe UI"/>
              </a:defRPr>
            </a:pPr>
            <a:r>
              <a:t>• Pairwise assignment of the sorted lists (highest peak to highest prediction, etc.).</a:t>
            </a:r>
          </a:p>
        </p:txBody>
      </p:sp>
      <p:sp>
        <p:nvSpPr>
          <p:cNvPr id="7" name="Rounded Rectangle 6"/>
          <p:cNvSpPr/>
          <p:nvPr/>
        </p:nvSpPr>
        <p:spPr>
          <a:xfrm>
            <a:off x="6309360" y="1645920"/>
            <a:ext cx="512064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920240"/>
            <a:ext cx="4572000" cy="4023360"/>
          </a:xfrm>
          <a:prstGeom prst="rect">
            <a:avLst/>
          </a:prstGeom>
          <a:noFill/>
        </p:spPr>
        <p:txBody>
          <a:bodyPr wrap="square" lIns="0" rIns="0" tIns="0" bIns="0">
            <a:spAutoFit/>
          </a:bodyPr>
          <a:lstStyle/>
          <a:p>
            <a:pPr>
              <a:spcAft>
                <a:spcPts val="1400"/>
              </a:spcAft>
              <a:defRPr sz="2000" b="1">
                <a:solidFill>
                  <a:srgbClr val="38BDF8"/>
                </a:solidFill>
                <a:latin typeface="Segoe UI"/>
              </a:defRPr>
            </a:pPr>
            <a:r>
              <a:t>Ordinal Peak Matching</a:t>
            </a:r>
          </a:p>
          <a:p>
            <a:pPr>
              <a:spcBef>
                <a:spcPts val="1000"/>
              </a:spcBef>
              <a:defRPr sz="1500">
                <a:solidFill>
                  <a:srgbClr val="E2E8F0"/>
                </a:solidFill>
                <a:latin typeface="Segoe UI"/>
              </a:defRPr>
            </a:pPr>
            <a:r>
              <a:t>Mean Absolute Error (MAE) calculation per model:</a:t>
            </a:r>
            <a:br/>
            <a:br/>
            <a:r>
              <a:t>  MAE = (1 / n) * sum( |exp_i - pred_i| )</a:t>
            </a:r>
            <a:br/>
            <a:br/>
            <a:r>
              <a:t>Benefit:</a:t>
            </a:r>
            <a:br/>
            <a:r>
              <a:t>• The user just pastes a list of numbers (e.g., '128.4, 115.0, 55.3').</a:t>
            </a:r>
            <a:br/>
            <a:r>
              <a:t>• The app assigns the peaks to table rows and shows the mean error of each model in the UI.</a:t>
            </a:r>
            <a:br/>
            <a:r>
              <a:t>• Instantly identifies the most accurate model for your compound.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914400"/>
          </a:xfrm>
          <a:prstGeom prst="rect">
            <a:avLst/>
          </a:prstGeom>
          <a:noFill/>
        </p:spPr>
        <p:txBody>
          <a:bodyPr wrap="square" lIns="0" tIns="0" rIns="0" bIns="0">
            <a:spAutoFit/>
          </a:bodyPr>
          <a:lstStyle/>
          <a:p>
            <a:pPr>
              <a:defRPr sz="3200" b="1">
                <a:solidFill>
                  <a:srgbClr val="FFFFFF"/>
                </a:solidFill>
                <a:latin typeface="Segoe UI"/>
              </a:defRPr>
            </a:pPr>
            <a:r>
              <a:t>The Two-Stage Assignment Algorithm</a:t>
            </a:r>
          </a:p>
        </p:txBody>
      </p:sp>
      <p:sp>
        <p:nvSpPr>
          <p:cNvPr id="4" name="Rectangle 3"/>
          <p:cNvSpPr/>
          <p:nvPr/>
        </p:nvSpPr>
        <p:spPr>
          <a:xfrm>
            <a:off x="731520" y="1188720"/>
            <a:ext cx="182880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12064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4572000" cy="4023360"/>
          </a:xfrm>
          <a:prstGeom prst="rect">
            <a:avLst/>
          </a:prstGeom>
          <a:noFill/>
        </p:spPr>
        <p:txBody>
          <a:bodyPr wrap="square" lIns="0" rIns="0" tIns="0" bIns="0">
            <a:spAutoFit/>
          </a:bodyPr>
          <a:lstStyle/>
          <a:p>
            <a:pPr>
              <a:spcAft>
                <a:spcPts val="1000"/>
              </a:spcAft>
              <a:defRPr sz="1500">
                <a:solidFill>
                  <a:srgbClr val="E2E8F0"/>
                </a:solidFill>
                <a:latin typeface="Segoe UI"/>
              </a:defRPr>
            </a:pPr>
            <a:r>
              <a:t>Stage A: Symmetry-Group Matching (Preferred)</a:t>
            </a:r>
          </a:p>
          <a:p>
            <a:pPr>
              <a:spcAft>
                <a:spcPts val="1000"/>
              </a:spcAft>
              <a:defRPr sz="1500">
                <a:solidFill>
                  <a:srgbClr val="E2E8F0"/>
                </a:solidFill>
                <a:latin typeface="Segoe UI"/>
              </a:defRPr>
            </a:pPr>
            <a:r>
              <a:t>• Active when: Experimental peaks &lt;= unique symmetry ranks.</a:t>
            </a:r>
          </a:p>
          <a:p>
            <a:pPr>
              <a:spcAft>
                <a:spcPts val="1000"/>
              </a:spcAft>
              <a:defRPr sz="1500">
                <a:solidFill>
                  <a:srgbClr val="E2E8F0"/>
                </a:solidFill>
                <a:latin typeface="Segoe UI"/>
              </a:defRPr>
            </a:pPr>
            <a:r>
              <a:t>• Carbon atoms are grouped by their symmetry rank.</a:t>
            </a:r>
          </a:p>
          <a:p>
            <a:pPr>
              <a:spcAft>
                <a:spcPts val="1000"/>
              </a:spcAft>
              <a:defRPr sz="1500">
                <a:solidFill>
                  <a:srgbClr val="E2E8F0"/>
                </a:solidFill>
                <a:latin typeface="Segoe UI"/>
              </a:defRPr>
            </a:pPr>
            <a:r>
              <a:t>• Symmetry groups are sorted in descending order by their consensus average ('avg').</a:t>
            </a:r>
          </a:p>
          <a:p>
            <a:pPr>
              <a:spcAft>
                <a:spcPts val="1000"/>
              </a:spcAft>
              <a:defRPr sz="1500">
                <a:solidFill>
                  <a:srgbClr val="E2E8F0"/>
                </a:solidFill>
                <a:latin typeface="Segoe UI"/>
              </a:defRPr>
            </a:pPr>
            <a:r>
              <a:t>• Pairwise matching of sorted experimental peaks to the groups.</a:t>
            </a:r>
          </a:p>
          <a:p>
            <a:pPr>
              <a:spcAft>
                <a:spcPts val="1000"/>
              </a:spcAft>
              <a:defRPr sz="1500">
                <a:solidFill>
                  <a:srgbClr val="E2E8F0"/>
                </a:solidFill>
                <a:latin typeface="Segoe UI"/>
              </a:defRPr>
            </a:pPr>
            <a:r>
              <a:t>• All atoms in a symmetry group share the exact same experimental value.</a:t>
            </a:r>
          </a:p>
        </p:txBody>
      </p:sp>
      <p:sp>
        <p:nvSpPr>
          <p:cNvPr id="7" name="Rounded Rectangle 6"/>
          <p:cNvSpPr/>
          <p:nvPr/>
        </p:nvSpPr>
        <p:spPr>
          <a:xfrm>
            <a:off x="6309360" y="1645920"/>
            <a:ext cx="512064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920240"/>
            <a:ext cx="4572000" cy="4023360"/>
          </a:xfrm>
          <a:prstGeom prst="rect">
            <a:avLst/>
          </a:prstGeom>
          <a:noFill/>
        </p:spPr>
        <p:txBody>
          <a:bodyPr wrap="square" lIns="0" rIns="0" tIns="0" bIns="0">
            <a:spAutoFit/>
          </a:bodyPr>
          <a:lstStyle/>
          <a:p>
            <a:pPr>
              <a:spcAft>
                <a:spcPts val="1000"/>
              </a:spcAft>
              <a:defRPr sz="1500">
                <a:solidFill>
                  <a:srgbClr val="E2E8F0"/>
                </a:solidFill>
                <a:latin typeface="Segoe UI"/>
              </a:defRPr>
            </a:pPr>
            <a:r>
              <a:t>Stage B: 1-to-1 Matching (Fallback)</a:t>
            </a:r>
          </a:p>
          <a:p>
            <a:pPr>
              <a:spcAft>
                <a:spcPts val="1000"/>
              </a:spcAft>
              <a:defRPr sz="1500">
                <a:solidFill>
                  <a:srgbClr val="E2E8F0"/>
                </a:solidFill>
                <a:latin typeface="Segoe UI"/>
              </a:defRPr>
            </a:pPr>
            <a:r>
              <a:t>• Active when: Experimental peaks &gt; unique symmetry ranks (e.g., impurities).</a:t>
            </a:r>
          </a:p>
          <a:p>
            <a:pPr>
              <a:spcAft>
                <a:spcPts val="1000"/>
              </a:spcAft>
              <a:defRPr sz="1500">
                <a:solidFill>
                  <a:srgbClr val="E2E8F0"/>
                </a:solidFill>
                <a:latin typeface="Segoe UI"/>
              </a:defRPr>
            </a:pPr>
            <a:r>
              <a:t>• Disables symmetry group grouping.</a:t>
            </a:r>
          </a:p>
          <a:p>
            <a:pPr>
              <a:spcAft>
                <a:spcPts val="1000"/>
              </a:spcAft>
              <a:defRPr sz="1500">
                <a:solidFill>
                  <a:srgbClr val="E2E8F0"/>
                </a:solidFill>
                <a:latin typeface="Segoe UI"/>
              </a:defRPr>
            </a:pPr>
            <a:r>
              <a:t>• Sorts all individual atoms in descending order by their 'avg' prediction.</a:t>
            </a:r>
          </a:p>
          <a:p>
            <a:pPr>
              <a:spcAft>
                <a:spcPts val="1000"/>
              </a:spcAft>
              <a:defRPr sz="1500">
                <a:solidFill>
                  <a:srgbClr val="E2E8F0"/>
                </a:solidFill>
                <a:latin typeface="Segoe UI"/>
              </a:defRPr>
            </a:pPr>
            <a:r>
              <a:t>• Performs direct pairwise matching of the sorted lists.</a:t>
            </a:r>
          </a:p>
          <a:p>
            <a:pPr>
              <a:spcAft>
                <a:spcPts val="1000"/>
              </a:spcAft>
              <a:defRPr sz="1500">
                <a:solidFill>
                  <a:srgbClr val="E2E8F0"/>
                </a:solidFill>
                <a:latin typeface="Segoe UI"/>
              </a:defRPr>
            </a:pPr>
            <a:r>
              <a:t>• Limits pairing to the length of the shorter list.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914400"/>
          </a:xfrm>
          <a:prstGeom prst="rect">
            <a:avLst/>
          </a:prstGeom>
          <a:noFill/>
        </p:spPr>
        <p:txBody>
          <a:bodyPr wrap="square" lIns="0" tIns="0" rIns="0" bIns="0">
            <a:spAutoFit/>
          </a:bodyPr>
          <a:lstStyle/>
          <a:p>
            <a:pPr>
              <a:defRPr sz="3200" b="1">
                <a:solidFill>
                  <a:srgbClr val="FFFFFF"/>
                </a:solidFill>
                <a:latin typeface="Segoe UI"/>
              </a:defRPr>
            </a:pPr>
            <a:r>
              <a:t>Robustness &amp; Error Handling</a:t>
            </a:r>
          </a:p>
        </p:txBody>
      </p:sp>
      <p:sp>
        <p:nvSpPr>
          <p:cNvPr id="4" name="Rectangle 3"/>
          <p:cNvSpPr/>
          <p:nvPr/>
        </p:nvSpPr>
        <p:spPr>
          <a:xfrm>
            <a:off x="731520" y="1188720"/>
            <a:ext cx="182880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411480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3566160" cy="4023360"/>
          </a:xfrm>
          <a:prstGeom prst="rect">
            <a:avLst/>
          </a:prstGeom>
          <a:noFill/>
        </p:spPr>
        <p:txBody>
          <a:bodyPr wrap="square" lIns="0" rIns="0" tIns="0" bIns="0">
            <a:spAutoFit/>
          </a:bodyPr>
          <a:lstStyle/>
          <a:p>
            <a:pPr>
              <a:spcBef>
                <a:spcPts val="0"/>
              </a:spcBef>
              <a:spcAft>
                <a:spcPts val="400"/>
              </a:spcAft>
              <a:defRPr sz="1500" b="1">
                <a:solidFill>
                  <a:srgbClr val="FFFFFF"/>
                </a:solidFill>
                <a:latin typeface="Segoe UI"/>
              </a:defRPr>
            </a:pPr>
            <a:r>
              <a:t>Defensive Software Design:</a:t>
            </a:r>
          </a:p>
          <a:p>
            <a:pPr>
              <a:spcAft>
                <a:spcPts val="1000"/>
              </a:spcAft>
              <a:defRPr sz="1500">
                <a:solidFill>
                  <a:srgbClr val="E2E8F0"/>
                </a:solidFill>
                <a:latin typeface="Segoe UI"/>
              </a:defRPr>
            </a:pPr>
            <a:r>
              <a:t>• Local isolation of errors ensures overall process stability.</a:t>
            </a:r>
          </a:p>
          <a:p>
            <a:pPr>
              <a:spcAft>
                <a:spcPts val="1000"/>
              </a:spcAft>
              <a:defRPr sz="1500">
                <a:solidFill>
                  <a:srgbClr val="E2E8F0"/>
                </a:solidFill>
                <a:latin typeface="Segoe UI"/>
              </a:defRPr>
            </a:pPr>
            <a:r>
              <a:t>• Failure of one model does not block the remaining calculations.</a:t>
            </a:r>
          </a:p>
          <a:p>
            <a:pPr>
              <a:spcAft>
                <a:spcPts val="1000"/>
              </a:spcAft>
              <a:defRPr sz="1500">
                <a:solidFill>
                  <a:srgbClr val="E2E8F0"/>
                </a:solidFill>
                <a:latin typeface="Segoe UI"/>
              </a:defRPr>
            </a:pPr>
            <a:r>
              <a:t>• NaN values are skipped in downstream steps (averaging, MAE).</a:t>
            </a:r>
          </a:p>
          <a:p>
            <a:pPr>
              <a:spcAft>
                <a:spcPts val="1000"/>
              </a:spcAft>
              <a:defRPr sz="1500">
                <a:solidFill>
                  <a:srgbClr val="E2E8F0"/>
                </a:solidFill>
                <a:latin typeface="Segoe UI"/>
              </a:defRPr>
            </a:pPr>
            <a:r>
              <a:t>• Automated fallbacks preserve usability under edge cases.</a:t>
            </a:r>
          </a:p>
        </p:txBody>
      </p:sp>
      <p:graphicFrame>
        <p:nvGraphicFramePr>
          <p:cNvPr id="7" name="Table 6"/>
          <p:cNvGraphicFramePr>
            <a:graphicFrameLocks noGrp="1"/>
          </p:cNvGraphicFramePr>
          <p:nvPr/>
        </p:nvGraphicFramePr>
        <p:xfrm>
          <a:off x="5120640" y="1645920"/>
          <a:ext cx="6309360" cy="4572000"/>
        </p:xfrm>
        <a:graphic>
          <a:graphicData uri="http://schemas.openxmlformats.org/drawingml/2006/table">
            <a:tbl>
              <a:tblPr firstRow="1" bandRow="1">
                <a:tableStyleId>{5C22544A-7EE6-4342-B048-85BDC9FD1C3A}</a:tableStyleId>
              </a:tblPr>
              <a:tblGrid>
                <a:gridCol w="2926080"/>
                <a:gridCol w="3383280"/>
              </a:tblGrid>
              <a:tr h="914400">
                <a:tc>
                  <a:txBody>
                    <a:bodyPr/>
                    <a:lstStyle/>
                    <a:p>
                      <a:pPr>
                        <a:defRPr sz="1200" b="1">
                          <a:solidFill>
                            <a:srgbClr val="FFFFFF"/>
                          </a:solidFill>
                          <a:latin typeface="Segoe UI"/>
                        </a:defRPr>
                      </a:pPr>
                      <a:r>
                        <a:t>Error Scenario / Cause</a:t>
                      </a:r>
                    </a:p>
                  </a:txBody>
                  <a:tcPr>
                    <a:solidFill>
                      <a:srgbClr val="0F766E"/>
                    </a:solidFill>
                  </a:tcPr>
                </a:tc>
                <a:tc>
                  <a:txBody>
                    <a:bodyPr/>
                    <a:lstStyle/>
                    <a:p>
                      <a:pPr>
                        <a:defRPr sz="1200" b="1">
                          <a:solidFill>
                            <a:srgbClr val="FFFFFF"/>
                          </a:solidFill>
                          <a:latin typeface="Segoe UI"/>
                        </a:defRPr>
                      </a:pPr>
                      <a:r>
                        <a:t>App Behavior / Fallback</a:t>
                      </a:r>
                    </a:p>
                  </a:txBody>
                  <a:tcPr>
                    <a:solidFill>
                      <a:srgbClr val="0F766E"/>
                    </a:solidFill>
                  </a:tcPr>
                </a:tc>
              </a:tr>
              <a:tr h="914400">
                <a:tc>
                  <a:txBody>
                    <a:bodyPr/>
                    <a:lstStyle/>
                    <a:p>
                      <a:pPr>
                        <a:defRPr sz="1200">
                          <a:solidFill>
                            <a:srgbClr val="E2E8F0"/>
                          </a:solidFill>
                          <a:latin typeface="Segoe UI"/>
                        </a:defRPr>
                      </a:pPr>
                      <a:r>
                        <a:t>DCode fragment missing in CSV database</a:t>
                      </a:r>
                    </a:p>
                  </a:txBody>
                  <a:tcPr>
                    <a:solidFill>
                      <a:srgbClr val="1E293B"/>
                    </a:solidFill>
                  </a:tcPr>
                </a:tc>
                <a:tc>
                  <a:txBody>
                    <a:bodyPr/>
                    <a:lstStyle/>
                    <a:p>
                      <a:pPr>
                        <a:defRPr sz="1200">
                          <a:solidFill>
                            <a:srgbClr val="E2E8F0"/>
                          </a:solidFill>
                          <a:latin typeface="Segoe UI"/>
                        </a:defRPr>
                      </a:pPr>
                      <a:r>
                        <a:t>Atom gets NaN; skipped in range and MAE calculations</a:t>
                      </a:r>
                    </a:p>
                  </a:txBody>
                  <a:tcPr>
                    <a:solidFill>
                      <a:srgbClr val="1E293B"/>
                    </a:solidFill>
                  </a:tcPr>
                </a:tc>
              </a:tr>
              <a:tr h="914400">
                <a:tc>
                  <a:txBody>
                    <a:bodyPr/>
                    <a:lstStyle/>
                    <a:p>
                      <a:pPr>
                        <a:defRPr sz="1200">
                          <a:solidFill>
                            <a:srgbClr val="E2E8F0"/>
                          </a:solidFill>
                          <a:latin typeface="Segoe UI"/>
                        </a:defRPr>
                      </a:pPr>
                      <a:r>
                        <a:t>RDKit 3D conformer embedding fails</a:t>
                      </a:r>
                    </a:p>
                  </a:txBody>
                  <a:tcPr>
                    <a:solidFill>
                      <a:srgbClr val="1E293B"/>
                    </a:solidFill>
                  </a:tcPr>
                </a:tc>
                <a:tc>
                  <a:txBody>
                    <a:bodyPr/>
                    <a:lstStyle/>
                    <a:p>
                      <a:pPr>
                        <a:defRPr sz="1200">
                          <a:solidFill>
                            <a:srgbClr val="E2E8F0"/>
                          </a:solidFill>
                          <a:latin typeface="Segoe UI"/>
                        </a:defRPr>
                      </a:pPr>
                      <a:r>
                        <a:t>Automatic 2D fallback (1 conformer, weight 1.0)</a:t>
                      </a:r>
                    </a:p>
                  </a:txBody>
                  <a:tcPr>
                    <a:solidFill>
                      <a:srgbClr val="1E293B"/>
                    </a:solidFill>
                  </a:tcPr>
                </a:tc>
              </a:tr>
              <a:tr h="914400">
                <a:tc>
                  <a:txBody>
                    <a:bodyPr/>
                    <a:lstStyle/>
                    <a:p>
                      <a:pPr>
                        <a:defRPr sz="1200">
                          <a:solidFill>
                            <a:srgbClr val="E2E8F0"/>
                          </a:solidFill>
                          <a:latin typeface="Segoe UI"/>
                        </a:defRPr>
                      </a:pPr>
                      <a:r>
                        <a:t>Unexpected elements (e.g., halogens)</a:t>
                      </a:r>
                    </a:p>
                  </a:txBody>
                  <a:tcPr>
                    <a:solidFill>
                      <a:srgbClr val="1E293B"/>
                    </a:solidFill>
                  </a:tcPr>
                </a:tc>
                <a:tc>
                  <a:txBody>
                    <a:bodyPr/>
                    <a:lstStyle/>
                    <a:p>
                      <a:pPr>
                        <a:defRPr sz="1200">
                          <a:solidFill>
                            <a:srgbClr val="E2E8F0"/>
                          </a:solidFill>
                          <a:latin typeface="Segoe UI"/>
                        </a:defRPr>
                      </a:pPr>
                      <a:r>
                        <a:t>CASCADE shows element warning; other models continue</a:t>
                      </a:r>
                    </a:p>
                  </a:txBody>
                  <a:tcPr>
                    <a:solidFill>
                      <a:srgbClr val="1E293B"/>
                    </a:solidFill>
                  </a:tcPr>
                </a:tc>
              </a:tr>
              <a:tr h="914400">
                <a:tc>
                  <a:txBody>
                    <a:bodyPr/>
                    <a:lstStyle/>
                    <a:p>
                      <a:pPr>
                        <a:defRPr sz="1200">
                          <a:solidFill>
                            <a:srgbClr val="E2E8F0"/>
                          </a:solidFill>
                          <a:latin typeface="Segoe UI"/>
                        </a:defRPr>
                      </a:pPr>
                      <a:r>
                        <a:t>Invalid experimental data (format error)</a:t>
                      </a:r>
                    </a:p>
                  </a:txBody>
                  <a:tcPr>
                    <a:solidFill>
                      <a:srgbClr val="1E293B"/>
                    </a:solidFill>
                  </a:tcPr>
                </a:tc>
                <a:tc>
                  <a:txBody>
                    <a:bodyPr/>
                    <a:lstStyle/>
                    <a:p>
                      <a:pPr>
                        <a:defRPr sz="1200">
                          <a:solidFill>
                            <a:srgbClr val="E2E8F0"/>
                          </a:solidFill>
                          <a:latin typeface="Segoe UI"/>
                        </a:defRPr>
                      </a:pPr>
                      <a:r>
                        <a:t>Catches ValueError; shows status warning 'Invalid format in Exp. Data!'</a:t>
                      </a:r>
                    </a:p>
                  </a:txBody>
                  <a:tcPr>
                    <a:solidFill>
                      <a:srgbClr val="1E293B"/>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914400"/>
          </a:xfrm>
          <a:prstGeom prst="rect">
            <a:avLst/>
          </a:prstGeom>
          <a:noFill/>
        </p:spPr>
        <p:txBody>
          <a:bodyPr wrap="square" lIns="0" tIns="0" rIns="0" bIns="0">
            <a:spAutoFit/>
          </a:bodyPr>
          <a:lstStyle/>
          <a:p>
            <a:pPr>
              <a:defRPr sz="3200" b="1">
                <a:solidFill>
                  <a:srgbClr val="FFFFFF"/>
                </a:solidFill>
                <a:latin typeface="Segoe UI"/>
              </a:defRPr>
            </a:pPr>
            <a:r>
              <a:t>User Interface Features (UI/UX)</a:t>
            </a:r>
          </a:p>
        </p:txBody>
      </p:sp>
      <p:sp>
        <p:nvSpPr>
          <p:cNvPr id="4" name="Rectangle 3"/>
          <p:cNvSpPr/>
          <p:nvPr/>
        </p:nvSpPr>
        <p:spPr>
          <a:xfrm>
            <a:off x="731520" y="1188720"/>
            <a:ext cx="182880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12064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4572000" cy="4023360"/>
          </a:xfrm>
          <a:prstGeom prst="rect">
            <a:avLst/>
          </a:prstGeom>
          <a:noFill/>
        </p:spPr>
        <p:txBody>
          <a:bodyPr wrap="square" lIns="0" rIns="0" tIns="0" bIns="0">
            <a:spAutoFit/>
          </a:bodyPr>
          <a:lstStyle/>
          <a:p>
            <a:pPr>
              <a:spcBef>
                <a:spcPts val="0"/>
              </a:spcBef>
              <a:spcAft>
                <a:spcPts val="400"/>
              </a:spcAft>
              <a:defRPr sz="1500" b="1">
                <a:solidFill>
                  <a:srgbClr val="FFFFFF"/>
                </a:solidFill>
                <a:latin typeface="Segoe UI"/>
              </a:defRPr>
            </a:pPr>
            <a:r>
              <a:t>Interactive Tools for Chemists:</a:t>
            </a:r>
          </a:p>
          <a:p>
            <a:pPr>
              <a:spcAft>
                <a:spcPts val="1000"/>
              </a:spcAft>
              <a:defRPr sz="1500">
                <a:solidFill>
                  <a:srgbClr val="E2E8F0"/>
                </a:solidFill>
                <a:latin typeface="Segoe UI"/>
              </a:defRPr>
            </a:pPr>
            <a:r>
              <a:t>• Offline Ketcher Editor:</a:t>
            </a:r>
          </a:p>
          <a:p>
            <a:pPr>
              <a:spcAft>
                <a:spcPts val="1000"/>
              </a:spcAft>
              <a:defRPr sz="1500">
                <a:solidFill>
                  <a:srgbClr val="E2E8F0"/>
                </a:solidFill>
                <a:latin typeface="Segoe UI"/>
              </a:defRPr>
            </a:pPr>
            <a:r>
              <a:t>  Local QtWebEngineView integration allows 2D structure sketching without internet.</a:t>
            </a:r>
          </a:p>
          <a:p>
            <a:pPr>
              <a:spcAft>
                <a:spcPts val="1000"/>
              </a:spcAft>
              <a:defRPr sz="1500">
                <a:solidFill>
                  <a:srgbClr val="E2E8F0"/>
                </a:solidFill>
                <a:latin typeface="Segoe UI"/>
              </a:defRPr>
            </a:pPr>
            <a:r>
              <a:t>• Zoomable 2D SVG Viewer:</a:t>
            </a:r>
          </a:p>
          <a:p>
            <a:pPr>
              <a:spcAft>
                <a:spcPts val="1000"/>
              </a:spcAft>
              <a:defRPr sz="1500">
                <a:solidFill>
                  <a:srgbClr val="E2E8F0"/>
                </a:solidFill>
                <a:latin typeface="Segoe UI"/>
              </a:defRPr>
            </a:pPr>
            <a:r>
              <a:t>  Vector graphic with smooth zoom and cross-highlighting (clicking a table row highlights the atom in 2D).</a:t>
            </a:r>
          </a:p>
          <a:p>
            <a:pPr>
              <a:spcAft>
                <a:spcPts val="1000"/>
              </a:spcAft>
              <a:defRPr sz="1500">
                <a:solidFill>
                  <a:srgbClr val="E2E8F0"/>
                </a:solidFill>
                <a:latin typeface="Segoe UI"/>
              </a:defRPr>
            </a:pPr>
            <a:r>
              <a:t>• Interactive 3Dmol.js Viewer:</a:t>
            </a:r>
          </a:p>
          <a:p>
            <a:pPr>
              <a:spcAft>
                <a:spcPts val="1000"/>
              </a:spcAft>
              <a:defRPr sz="1500">
                <a:solidFill>
                  <a:srgbClr val="E2E8F0"/>
                </a:solidFill>
                <a:latin typeface="Segoe UI"/>
              </a:defRPr>
            </a:pPr>
            <a:r>
              <a:t>  Fully rotatable 3D model with selectable conformers from the Boltzmann ensemble.</a:t>
            </a:r>
          </a:p>
        </p:txBody>
      </p:sp>
      <p:sp>
        <p:nvSpPr>
          <p:cNvPr id="7" name="Rounded Rectangle 6"/>
          <p:cNvSpPr/>
          <p:nvPr/>
        </p:nvSpPr>
        <p:spPr>
          <a:xfrm>
            <a:off x="6309360" y="1645920"/>
            <a:ext cx="512064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920240"/>
            <a:ext cx="4572000" cy="4023360"/>
          </a:xfrm>
          <a:prstGeom prst="rect">
            <a:avLst/>
          </a:prstGeom>
          <a:noFill/>
        </p:spPr>
        <p:txBody>
          <a:bodyPr wrap="square" lIns="0" rIns="0" tIns="0" bIns="0">
            <a:spAutoFit/>
          </a:bodyPr>
          <a:lstStyle/>
          <a:p>
            <a:pPr>
              <a:spcBef>
                <a:spcPts val="0"/>
              </a:spcBef>
              <a:spcAft>
                <a:spcPts val="400"/>
              </a:spcAft>
              <a:defRPr sz="1500" b="1">
                <a:solidFill>
                  <a:srgbClr val="FFFFFF"/>
                </a:solidFill>
                <a:latin typeface="Segoe UI"/>
              </a:defRPr>
            </a:pPr>
            <a:r>
              <a:t>Continued:</a:t>
            </a:r>
          </a:p>
          <a:p>
            <a:pPr>
              <a:spcAft>
                <a:spcPts val="1000"/>
              </a:spcAft>
              <a:defRPr sz="1500">
                <a:solidFill>
                  <a:srgbClr val="E2E8F0"/>
                </a:solidFill>
                <a:latin typeface="Segoe UI"/>
              </a:defRPr>
            </a:pPr>
            <a:r>
              <a:t>• Lorentz-Simulated 13C Spectrum:</a:t>
            </a:r>
          </a:p>
          <a:p>
            <a:pPr>
              <a:spcAft>
                <a:spcPts val="1000"/>
              </a:spcAft>
              <a:defRPr sz="1500">
                <a:solidFill>
                  <a:srgbClr val="E2E8F0"/>
                </a:solidFill>
                <a:latin typeface="Segoe UI"/>
              </a:defRPr>
            </a:pPr>
            <a:r>
              <a:t>  Continuous spectral curve with interactive peak-picking (clicking a peak highlights the atom in table/2D).</a:t>
            </a:r>
          </a:p>
          <a:p>
            <a:pPr>
              <a:spcAft>
                <a:spcPts val="1000"/>
              </a:spcAft>
              <a:defRPr sz="1500">
                <a:solidFill>
                  <a:srgbClr val="E2E8F0"/>
                </a:solidFill>
                <a:latin typeface="Segoe UI"/>
              </a:defRPr>
            </a:pPr>
            <a:r>
              <a:t>• Export System:</a:t>
            </a:r>
          </a:p>
          <a:p>
            <a:pPr>
              <a:spcAft>
                <a:spcPts val="1000"/>
              </a:spcAft>
              <a:defRPr sz="1500">
                <a:solidFill>
                  <a:srgbClr val="E2E8F0"/>
                </a:solidFill>
                <a:latin typeface="Segoe UI"/>
              </a:defRPr>
            </a:pPr>
            <a:r>
              <a:t>  Print-ready HTML report containing 2D structure, results table, and MAE statistics, plus CSV export.</a:t>
            </a:r>
          </a:p>
          <a:p>
            <a:pPr>
              <a:spcAft>
                <a:spcPts val="1000"/>
              </a:spcAft>
              <a:defRPr sz="1500">
                <a:solidFill>
                  <a:srgbClr val="E2E8F0"/>
                </a:solidFill>
                <a:latin typeface="Segoe UI"/>
              </a:defRPr>
            </a:pPr>
            <a:r>
              <a:t>• Session Caching &amp; History:</a:t>
            </a:r>
          </a:p>
          <a:p>
            <a:pPr>
              <a:spcAft>
                <a:spcPts val="1000"/>
              </a:spcAft>
              <a:defRPr sz="1500">
                <a:solidFill>
                  <a:srgbClr val="E2E8F0"/>
                </a:solidFill>
                <a:latin typeface="Segoe UI"/>
              </a:defRPr>
            </a:pPr>
            <a:r>
              <a:t>  Saves calculations in RAM for instant replay of previously analyzed molecules.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914400"/>
          </a:xfrm>
          <a:prstGeom prst="rect">
            <a:avLst/>
          </a:prstGeom>
          <a:noFill/>
        </p:spPr>
        <p:txBody>
          <a:bodyPr wrap="square" lIns="0" tIns="0" rIns="0" bIns="0">
            <a:spAutoFit/>
          </a:bodyPr>
          <a:lstStyle/>
          <a:p>
            <a:pPr>
              <a:defRPr sz="3200" b="1">
                <a:solidFill>
                  <a:srgbClr val="FFFFFF"/>
                </a:solidFill>
                <a:latin typeface="Segoe UI"/>
              </a:defRPr>
            </a:pPr>
            <a:r>
              <a:t>Summary</a:t>
            </a:r>
          </a:p>
        </p:txBody>
      </p:sp>
      <p:sp>
        <p:nvSpPr>
          <p:cNvPr id="4" name="Rectangle 3"/>
          <p:cNvSpPr/>
          <p:nvPr/>
        </p:nvSpPr>
        <p:spPr>
          <a:xfrm>
            <a:off x="731520" y="1188720"/>
            <a:ext cx="182880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12064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4572000" cy="4023360"/>
          </a:xfrm>
          <a:prstGeom prst="rect">
            <a:avLst/>
          </a:prstGeom>
          <a:noFill/>
        </p:spPr>
        <p:txBody>
          <a:bodyPr wrap="square" lIns="0" rIns="0" tIns="0" bIns="0">
            <a:spAutoFit/>
          </a:bodyPr>
          <a:lstStyle/>
          <a:p>
            <a:pPr>
              <a:spcBef>
                <a:spcPts val="0"/>
              </a:spcBef>
              <a:spcAft>
                <a:spcPts val="400"/>
              </a:spcAft>
              <a:defRPr sz="1500" b="1">
                <a:solidFill>
                  <a:srgbClr val="FFFFFF"/>
                </a:solidFill>
                <a:latin typeface="Segoe UI"/>
              </a:defRPr>
            </a:pPr>
            <a:r>
              <a:t>Key Achievements of the App:</a:t>
            </a:r>
          </a:p>
          <a:p>
            <a:pPr>
              <a:spcAft>
                <a:spcPts val="1000"/>
              </a:spcAft>
              <a:defRPr sz="1500">
                <a:solidFill>
                  <a:srgbClr val="E2E8F0"/>
                </a:solidFill>
                <a:latin typeface="Segoe UI"/>
              </a:defRPr>
            </a:pPr>
            <a:r>
              <a:t>• Consensus Accuracy:</a:t>
            </a:r>
          </a:p>
          <a:p>
            <a:pPr>
              <a:spcAft>
                <a:spcPts val="1000"/>
              </a:spcAft>
              <a:defRPr sz="1500">
                <a:solidFill>
                  <a:srgbClr val="E2E8F0"/>
                </a:solidFill>
                <a:latin typeface="Segoe UI"/>
              </a:defRPr>
            </a:pPr>
            <a:r>
              <a:t>  Balances individual model weaknesses across CASCADE, EST-NMR, and DCode.</a:t>
            </a:r>
          </a:p>
          <a:p>
            <a:pPr>
              <a:spcAft>
                <a:spcPts val="1000"/>
              </a:spcAft>
              <a:defRPr sz="1500">
                <a:solidFill>
                  <a:srgbClr val="E2E8F0"/>
                </a:solidFill>
                <a:latin typeface="Segoe UI"/>
              </a:defRPr>
            </a:pPr>
            <a:r>
              <a:t>• Physics-based Modeling:</a:t>
            </a:r>
          </a:p>
          <a:p>
            <a:pPr>
              <a:spcAft>
                <a:spcPts val="1000"/>
              </a:spcAft>
              <a:defRPr sz="1500">
                <a:solidFill>
                  <a:srgbClr val="E2E8F0"/>
                </a:solidFill>
                <a:latin typeface="Segoe UI"/>
              </a:defRPr>
            </a:pPr>
            <a:r>
              <a:t>  Captures thermodynamic reality using MMFF94 conformers and Boltzmann weighting.</a:t>
            </a:r>
          </a:p>
          <a:p>
            <a:pPr>
              <a:spcAft>
                <a:spcPts val="1000"/>
              </a:spcAft>
              <a:defRPr sz="1500">
                <a:solidFill>
                  <a:srgbClr val="E2E8F0"/>
                </a:solidFill>
                <a:latin typeface="Segoe UI"/>
              </a:defRPr>
            </a:pPr>
            <a:r>
              <a:t>• Practical Lab Tools:</a:t>
            </a:r>
          </a:p>
          <a:p>
            <a:pPr>
              <a:spcAft>
                <a:spcPts val="1000"/>
              </a:spcAft>
              <a:defRPr sz="1500">
                <a:solidFill>
                  <a:srgbClr val="E2E8F0"/>
                </a:solidFill>
                <a:latin typeface="Segoe UI"/>
              </a:defRPr>
            </a:pPr>
            <a:r>
              <a:t>  Symmetry averaging resolves coordinate asymmetry; Auto-MAE enables direct validation.</a:t>
            </a:r>
          </a:p>
          <a:p>
            <a:pPr>
              <a:spcAft>
                <a:spcPts val="1000"/>
              </a:spcAft>
              <a:defRPr sz="1500">
                <a:solidFill>
                  <a:srgbClr val="E2E8F0"/>
                </a:solidFill>
                <a:latin typeface="Segoe UI"/>
              </a:defRPr>
            </a:pPr>
            <a:r>
              <a:t>• 100% Data Privacy &amp; Independence:</a:t>
            </a:r>
          </a:p>
          <a:p>
            <a:pPr>
              <a:spcAft>
                <a:spcPts val="1000"/>
              </a:spcAft>
              <a:defRPr sz="1500">
                <a:solidFill>
                  <a:srgbClr val="E2E8F0"/>
                </a:solidFill>
                <a:latin typeface="Segoe UI"/>
              </a:defRPr>
            </a:pPr>
            <a:r>
              <a:t>  Runs completely offline and locally (critical for sensitive research data).</a:t>
            </a:r>
          </a:p>
        </p:txBody>
      </p:sp>
      <p:sp>
        <p:nvSpPr>
          <p:cNvPr id="7" name="Rounded Rectangle 6"/>
          <p:cNvSpPr/>
          <p:nvPr/>
        </p:nvSpPr>
        <p:spPr>
          <a:xfrm>
            <a:off x="6309360" y="1645920"/>
            <a:ext cx="512064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920240"/>
            <a:ext cx="4572000" cy="4023360"/>
          </a:xfrm>
          <a:prstGeom prst="rect">
            <a:avLst/>
          </a:prstGeom>
          <a:noFill/>
        </p:spPr>
        <p:txBody>
          <a:bodyPr wrap="square" lIns="0" rIns="0" tIns="0" bIns="0">
            <a:spAutoFit/>
          </a:bodyPr>
          <a:lstStyle/>
          <a:p>
            <a:pPr>
              <a:spcAft>
                <a:spcPts val="1400"/>
              </a:spcAft>
              <a:defRPr sz="2000" b="1">
                <a:solidFill>
                  <a:srgbClr val="38BDF8"/>
                </a:solidFill>
                <a:latin typeface="Segoe UI"/>
              </a:defRPr>
            </a:pPr>
            <a:r>
              <a:t>NMR Predictor App</a:t>
            </a:r>
          </a:p>
          <a:p>
            <a:pPr>
              <a:spcBef>
                <a:spcPts val="1000"/>
              </a:spcBef>
              <a:defRPr sz="1500">
                <a:solidFill>
                  <a:srgbClr val="E2E8F0"/>
                </a:solidFill>
                <a:latin typeface="Segoe UI"/>
              </a:defRPr>
            </a:pPr>
            <a:r>
              <a:t>Thank you for your attention!</a:t>
            </a:r>
            <a:br/>
            <a:br/>
            <a:r>
              <a:t>Are there any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