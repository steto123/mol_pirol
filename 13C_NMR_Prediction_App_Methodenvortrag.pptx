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Sehr geehrte Damen und Herren, ich begrüße Sie zu meinem Methodenvortrag über unsere NMR 13C Prediction App. In der organischen Chemie und Strukturaufklärung ist die Kernspinresonanzspektroskopie (NMR) eines der mächtigsten Werkzeuge. Die Interpretation von Spektren erfordert jedoch oft langjährige Erfahrung oder zeitaufwändige quantenchemische DFT-Rechnungen. Unsere Applikation setzt hier an: Sie kombiniert drei völlig unterschiedliche Vorhersageparadigmen – von Graph-Neuronalen-Netzen über 3D-Koordinaten-Netzwerke bis hin zu Datenbank-Topologie-Abgleichen – zu einer schnellen, robusten Konsensvorhersage. Das Ganze läuft vollständig lokal und offline ab. In diesem Vortrag werde ich Ihnen die genauen mathematischen und algorithmischen Hintergründe dieser Features vorstellen.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sehen Sie die Agenda für den heutigen Vortrag. Nach einer kurzen Motivation führen wir den gesamten Programmablauf ein. Danach tauchen wir tief in die drei Kernvorhersagemethoden ein. Im Anschluss besprechen wir, wie wir Geometrie-Effekte über Kraftfeldminimierung und Boltzmann-Ensembles abbilden. Ein besonderer Schwerpunkt liegt auf der experimentellen Symmetrie-Mittelung sowie auf der mathematischen Logik hinter der Auto-MAE-Peakzuordnung, bei der wir gemessene Spektren vollautomatisch den Atomen zuweisen. Am Ende zeigen wir die Robustheits- und UI-Features.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Warum nutzen wir nicht einfach das eine, beste Modell? In der Praxis zeigt sich, dass jede Architektur spezifische Schwächen hat. Reine Graph-Modelle sind extrem schnell und robust, erfassen aber stereochemische Effekte wie cis/trans-Isomerie oft gar nicht. 3D-Modelle hingegen erfassen Geometrie, können aber bei ungünstigen Startgeometrien völlig unrealistische Werte ausgeben. Topologische Datenbanken sind hochpräzise für bekannte Motive, scheitern aber bei gänzlich unbekannten Substituenten. Durch die Kombination von CASCADE, EST-NMR und DCode in unserer App heben sich die Schwächen gegenseitig auf. Die Abweichung der Modelle voneinander liefert uns zudem ein direktes Maß für die Unsicherheit.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Dieses Ablaufdiagramm veranschaulicht den Prozess. Gibt der Nutzer einen SMILES-Code ein, bereitet RDKit das Molekül vor. Um die Startzeit der App zu minimieren, implementieren wir ein 'Lazy Loading'-Verfahren: Die Deep-Learning-Modelle und die über 40 Megabyte große DCode-CSV-Datenbank werden erst beim ersten Klick geladen. Danach spalten sich die Berechnungen auf. Ein RDKit-Algorithmus generiert parallel dazu 10 Konformere, minimiert deren Energien im MMFF94-Kraftfeld und stellt diese Geometrien sowohl EST-NMR als auch DCode zur Verfügung. Am Ende fließen die Ergebnisse zusammen, die Spannweite wird berechnet, und das UI aktualisiert sich.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Kommen wir zum ersten Modell: CASCADE. CASCADE steht für ein hochmodernes Graph-Neuronales-Netzwerk. Es betrachtet Atome und Bindungen als Knoten und Kanten eines Graphen. Über sogenannte Message-Passing-Schritte lernt das Netzwerk, wie elektronische Effekte – zum Beispiel Donorgruppen oder Mesomerie – durch die Bindungen transportiert werden. CASCADE berechnet intern ebenfalls ein Boltzmann-gewichtetes Konformeren-Ensemble, um den Einfluss von Konformationsänderungen abzubilden. Da es auf einer großen Zahl DFT-berechneter Moleküle trainiert wurde, liefert es hochpräzise Werte für organische Standardstrukturen.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zweite Modell ist EST-NMR. Im Gegensatz zum konstitutionsbasierten Graphen-Ansatz von CASCADE arbeitet EST-NMR direkt mit der dreidimensionalen Struktur. Das geladene PyTorch-Modell erhält als Eingabe lediglich die Atomnummern und die Raumkoordinaten. Wir implementieren hier zwei Varianten: 'Single' nutzt nur das energetisch stabilste Konformer. 'Boltz' hingegen rechnet das Modell für alle 10 Konformere durch. Das ist deshalb so wichtig, weil Moleküle in Lösung flexibel sind und wir so den thermodynamischen Mittelwert vorhersagen können. EST-NMR eignet sich besonders gut, wenn räumliche Spannungen die Verschiebung beeinflussen.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dritte Methode ist DCode. Sie verfolgt einen empirischen Ansatz. DCode berechnet für jedes Kohlenstoffatom in einem Radius von 6 Ångström einen eindeutigen Textcode, der die topologische und räumliche Umgebung beschreibt. Mit diesem Code durchsucht das Programm eine über 40 Megabyte große CSV-Datei. Diese Datei enthält Hunderttausende bekannter Fragmente aus experimentellen Datenbanken. Finden wir eine exakte Übereinstimmung, übernimmt DCode den experimentellen Durchschnittswert. Da dieser Code konformerspezifisch ist, gewichten wir auch hier die Treffer über die Boltzmann-Verteilung der 10 Konformere. DCode ist enorm präzise für bekannte Gruppen, liefert jedoch ein 'NaN', falls das Fragment in der Datenbank fehlt.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Lassen Sie uns kurz über das physikalische Fundament der Boltzmann-Gewichtung sprechen. In der NMR-Röhre messen wir ein zeitliches und thermodynamisches Mittel. Ein energiereiches Konformer, das nur zu 0,1 % vorkommt, darf die vorhergesagte Verschiebung kaum beeinflussen. Daher generieren wir 10 Konformere und minimieren sie im MMFF94-Kraftfeld. Aus der Energiedifferenz zum stabilsten Zustand berechnen wir die Boltzmann-Gewichte nach der klassischen Formel e hoch minus Delta E durch R T. So stellen wir sicher, dass nur die tatsächlich relevanten Geometrien in die Vorhersage einfließen. Dies verbessert die Genauigkeit im Vergleich zur Vorhersage einer Geometrie.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Alleinstellungsmerkmal unserer App ist die sogenannte Range- oder Spannweite-Metrik. Da wir drei völlig unterschiedliche Algorithmen parallel laufen lassen, können wir deren Differenz berechnen. Weichen die Modelle um mehr als 5 ppm voneinander ab, wird die entsprechende Zeile in der Tabelle rot hinterlegt und mit einem Warnsymbol versehen. Dies signalisiert dem Chemiker sofort: 'Achtung, an dieser Stelle sind sich die Modelle uneins.' Das passiert meistens an stark gehinderten Stereozentren oder bei hochgeladenen Molekülen, wo Standard-Kraftfelder an ihre Grenzen stoßen. Es dient somit als direktes Qualitätssiegel.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Lösung weisen symmetrieäquivalente Atome durch schnelle Rotation exakt dieselbe chemische Verschiebung auf. In unseren computergenerierten 3D-Modellen sind die Bindungslängen und -winkel jedoch nie vollkommen symmetrisch, was zu leicht unterschiedlichen Vorhersagewerten führt. Um dies zu korrigieren, nutzen wir eine experimentelle Symmetrie-Mittelung. Wir kombinieren dafür das topologische 2D-Ranking von RDKit mit einer räumlichen 3D-Verfeinerung. Atome werden nur dann gruppiert, wenn ihre 3D-Abstandsprofile innerhalb einer Toleranz von 0,4 Å übereinstimmen. Dadurch werden frei rotierende Gruppen wie Methylgruppen oder Phenylringe korrekt zusammengefasst, während starre geometrische Isomere – wie cis- und trans-Stellungen – zuverlässig getrennt bleiben.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Wenn Sie ein reales Spektrum gemessen haben, können Sie die Peaks einfach als kommagetrennte Liste in die App kopieren. Nun stehen wir vor dem mathematischen Problem der Zuordnung. Da das Spektrum nicht weiß, welcher Peak zu welchem Atom gehört, nutzen wir das bewährte Verfahren des ordnungsbasierten Matchings nach Bally und Rablen. Wir sortieren sowohl die experimentellen Peaks als auch die Vorhersagen absteigend und paaren sie der Reihe nach. Auf dieser Basis berechnen wir für jedes Modell getrennt den mittleren absoluten Fehler, den MAE. So sieht der Nutzer sofort, welches Modell seine experimentellen Messungen am präzisesten beschreibt.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Zuordnungsalgorithmus arbeitet zweistufig und symmetriebewusst. In Stufe A – dem Standardfall – gibt es maximal so viele experimentelle Peaks wie chemisch einzigartige Kohlenstoffatome. Hier gruppieren wir die Atome nach ihrem Symmetrierang. Wir sortieren diese Gruppen nach ihrer durchschnittlichen Vorhersage und ordnen die experimentellen Peaks den Gruppen zu. Dadurch wird sichergestellt, dass beispielsweise zwei symmetrische Kohlenstoffatome im Benzolring auch denselben experimentellen Peak zugewiesen bekommen. Sollte der Nutzer mehr Peaks eingeben als Symmetriegruppen vorhanden sind – etwa weil Verunreinigungen im Spektrum sind –, greift Stufe B. Hier fallen wir auf ein reines 1-zu-1-Matching der sortierten Einzelatome zurück.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ganz wichtiger Aspekt für den praktischen Einsatz im Labor ist die Robustheit. Chemische Strukturen können hochgradig komplex sein. Wenn RDKit beispielsweise für ein extrem gespanntes Ringsystem kein stabiles 3D-Konformer generieren kann, stürzt die App nicht ab. Sie führt automatisch einen Fallback auf die 2D-Struktur durch. Fehlt ein Fragment in der DCode-Datenbank, wird dieser Wert als NaN markiert und bei der Mittelung und MAE-Berechnung einfach ignoriert. Eine kleine Schwachstelle des ordnungsbasierten Matchings besteht darin, dass ein zeitweiser extremer Ausreißer eines Modells den Gesamtmittelwert verzerren und so die Zuordnung der Peaks vertauschen kann. In solchen Fällen wird der Nutzer jedoch durch das rote Warnsymbol der hohen Spannweite sensibilisiert.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Abschließend möchte ich die Benutzeroberfläche und die interaktiven Features hervorheben. Um die Eingabe so einfach wie möglich zu machen, haben wir den Ketcher-Struktureditor direkt offline integriert. Der Chemiker kann das Molekül zeichnen und die App generiert den SMILES-Code automatisch. Die 2D-Grafik unterstützt stufenloses Zoomen und ist interaktiv mit der Ergebnistabelle verknüpft: Klicken Sie auf ein Atom in der Tabelle, leuchtet es in der Grafik auf. Das simulierte NMR-Spektrum generiert aus den diskreten Werten über Lorentz-Kurven ein realistisches Spektralbild. Auch hier können Peaks angeklickt werden, um die Atome im Molekül zu identifizieren. Schließlich lassen sich alle Ergebnisse als übersichtlicher HTML-Bericht oder als CSV exportieren.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Zusammenfassend lässt sich sagen: Die App bietet Chemie-Laboratorien ein leistungsstarkes Werkzeug zur schnellen Validierung von Syntheseprodukten. Durch die konsensbasierte Vorhersage und die physikalisch korrekte Boltzmann-Gewichtung erreichen wir eine hohe Vorhersagegüte. Features wie die automatische Zuordnung experimenteller Daten und die Symmetriemittelung machen die App im Laboralltag extrem praktisch. Und da die App vollständig offline läuft, sind sensible Forschungsdaten vor dem Abfluss geschützt. Ich bedanke sich ganz herzlich für Ihre Aufmerksamkeit und freue mich auf Ihre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0152" cy="3657600"/>
          </a:xfrm>
          <a:prstGeom prst="rect">
            <a:avLst/>
          </a:prstGeom>
          <a:noFill/>
        </p:spPr>
        <p:txBody>
          <a:bodyPr wrap="square">
            <a:spAutoFit/>
          </a:bodyPr>
          <a:lstStyle/>
          <a:p>
            <a:pPr algn="ctr">
              <a:defRPr sz="3800" b="1">
                <a:solidFill>
                  <a:srgbClr val="FFFFFF"/>
                </a:solidFill>
                <a:latin typeface="Segoe UI"/>
              </a:defRPr>
            </a:pPr>
            <a:r>
              <a:t>Konsensbasierte ¹³C-NMR-Spektrenvorhersage</a:t>
            </a:r>
          </a:p>
          <a:p>
            <a:pPr algn="ctr">
              <a:spcBef>
                <a:spcPts val="1400"/>
              </a:spcBef>
              <a:defRPr sz="2600">
                <a:solidFill>
                  <a:srgbClr val="38BDF8"/>
                </a:solidFill>
                <a:latin typeface="Segoe UI"/>
              </a:defRPr>
            </a:pPr>
            <a:r>
              <a:t>mittels maschinellen Lernens und Topologieanalyse</a:t>
            </a:r>
          </a:p>
          <a:p>
            <a:pPr algn="ctr">
              <a:spcBef>
                <a:spcPts val="3600"/>
              </a:spcBef>
              <a:defRPr sz="1800">
                <a:solidFill>
                  <a:srgbClr val="E2E8F0"/>
                </a:solidFill>
                <a:latin typeface="Segoe UI"/>
              </a:defRPr>
            </a:pPr>
            <a:r>
              <a:t>Eine Vorstellung der NMR 13C Prediction App: Konzepte, Algorithmen und Validierung</a:t>
            </a:r>
          </a:p>
        </p:txBody>
      </p:sp>
      <p:sp>
        <p:nvSpPr>
          <p:cNvPr id="4" name="TextBox 3"/>
          <p:cNvSpPr txBox="1"/>
          <p:nvPr/>
        </p:nvSpPr>
        <p:spPr>
          <a:xfrm>
            <a:off x="914400" y="5303520"/>
            <a:ext cx="10360152" cy="914400"/>
          </a:xfrm>
          <a:prstGeom prst="rect">
            <a:avLst/>
          </a:prstGeom>
          <a:noFill/>
        </p:spPr>
        <p:txBody>
          <a:bodyPr wrap="none">
            <a:spAutoFit/>
          </a:bodyPr>
          <a:lstStyle/>
          <a:p>
            <a:pPr algn="ctr">
              <a:defRPr sz="1400">
                <a:solidFill>
                  <a:srgbClr val="94A3B8"/>
                </a:solidFill>
                <a:latin typeface="Segoe UI"/>
              </a:defRPr>
            </a:pPr>
            <a:r>
              <a:t>NMR Predictor App   |   Methodenvortrag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Agenda</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Vortragsgliederung:</a:t>
            </a:r>
          </a:p>
          <a:p>
            <a:pPr>
              <a:spcAft>
                <a:spcPts val="1000"/>
              </a:spcAft>
              <a:defRPr sz="1500">
                <a:solidFill>
                  <a:srgbClr val="E2E8F0"/>
                </a:solidFill>
                <a:latin typeface="Segoe UI"/>
              </a:defRPr>
            </a:pPr>
            <a:r>
              <a:t>1. Motivation &amp; Problemstellung (Warum Konsens?)</a:t>
            </a:r>
          </a:p>
          <a:p>
            <a:pPr>
              <a:spcAft>
                <a:spcPts val="1000"/>
              </a:spcAft>
              <a:defRPr sz="1500">
                <a:solidFill>
                  <a:srgbClr val="E2E8F0"/>
                </a:solidFill>
                <a:latin typeface="Segoe UI"/>
              </a:defRPr>
            </a:pPr>
            <a:r>
              <a:t>2. System-Architektur &amp; Programmablauf</a:t>
            </a:r>
          </a:p>
          <a:p>
            <a:pPr>
              <a:spcAft>
                <a:spcPts val="1000"/>
              </a:spcAft>
              <a:defRPr sz="1500">
                <a:solidFill>
                  <a:srgbClr val="E2E8F0"/>
                </a:solidFill>
                <a:latin typeface="Segoe UI"/>
              </a:defRPr>
            </a:pPr>
            <a:r>
              <a:t>3. Die drei Vorhersagemodelle im Detail (CASCADE, EST-NMR, DCode)</a:t>
            </a:r>
          </a:p>
          <a:p>
            <a:pPr>
              <a:spcAft>
                <a:spcPts val="1000"/>
              </a:spcAft>
              <a:defRPr sz="1500">
                <a:solidFill>
                  <a:srgbClr val="E2E8F0"/>
                </a:solidFill>
                <a:latin typeface="Segoe UI"/>
              </a:defRPr>
            </a:pPr>
            <a:r>
              <a:t>4. Physikalische Verfeinerung (MMFF94-Ensemble &amp; Boltzmann)</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Fortsetzung:</a:t>
            </a:r>
          </a:p>
          <a:p>
            <a:pPr>
              <a:spcAft>
                <a:spcPts val="1000"/>
              </a:spcAft>
              <a:defRPr sz="1500">
                <a:solidFill>
                  <a:srgbClr val="E2E8F0"/>
                </a:solidFill>
                <a:latin typeface="Segoe UI"/>
              </a:defRPr>
            </a:pPr>
            <a:r>
              <a:t>5. Chemische Symmetrie (Hybrid-Symmetriemittelung 2D/3D)</a:t>
            </a:r>
          </a:p>
          <a:p>
            <a:pPr>
              <a:spcAft>
                <a:spcPts val="1000"/>
              </a:spcAft>
              <a:defRPr sz="1500">
                <a:solidFill>
                  <a:srgbClr val="E2E8F0"/>
                </a:solidFill>
                <a:latin typeface="Segoe UI"/>
              </a:defRPr>
            </a:pPr>
            <a:r>
              <a:t>6. Spektrenzuordnung &amp; Validierung (Auto-MAE)</a:t>
            </a:r>
          </a:p>
          <a:p>
            <a:pPr>
              <a:spcAft>
                <a:spcPts val="1000"/>
              </a:spcAft>
              <a:defRPr sz="1500">
                <a:solidFill>
                  <a:srgbClr val="E2E8F0"/>
                </a:solidFill>
                <a:latin typeface="Segoe UI"/>
              </a:defRPr>
            </a:pPr>
            <a:r>
              <a:t>7. Robustheit, Fehlerbehandlung &amp; UI-Features</a:t>
            </a:r>
          </a:p>
          <a:p>
            <a:pPr>
              <a:spcAft>
                <a:spcPts val="1000"/>
              </a:spcAft>
              <a:defRPr sz="1500">
                <a:solidFill>
                  <a:srgbClr val="E2E8F0"/>
                </a:solidFill>
                <a:latin typeface="Segoe UI"/>
              </a:defRPr>
            </a:pPr>
            <a:r>
              <a:t>8. Zusammenfassung &amp; Diskussion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Motivation: Warum Multi-Modell-Konsens?</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Grenzen einzelner Berechnungsverfahren:</a:t>
            </a:r>
          </a:p>
          <a:p>
            <a:pPr>
              <a:spcAft>
                <a:spcPts val="1000"/>
              </a:spcAft>
              <a:defRPr sz="1500">
                <a:solidFill>
                  <a:srgbClr val="E2E8F0"/>
                </a:solidFill>
                <a:latin typeface="Segoe UI"/>
              </a:defRPr>
            </a:pPr>
            <a:r>
              <a:t>• Reine Graph-Modelle (2D) ignorieren dreidimensionale Raumstrukturen und Stereochemie.</a:t>
            </a:r>
          </a:p>
          <a:p>
            <a:pPr>
              <a:spcAft>
                <a:spcPts val="1000"/>
              </a:spcAft>
              <a:defRPr sz="1500">
                <a:solidFill>
                  <a:srgbClr val="E2E8F0"/>
                </a:solidFill>
                <a:latin typeface="Segoe UI"/>
              </a:defRPr>
            </a:pPr>
            <a:r>
              <a:t>• Reine 3D-Modelle reagieren empfindlich auf minimale Abweichungen in der Geometrie-Generierung.</a:t>
            </a:r>
          </a:p>
          <a:p>
            <a:pPr>
              <a:spcAft>
                <a:spcPts val="1000"/>
              </a:spcAft>
              <a:defRPr sz="1500">
                <a:solidFill>
                  <a:srgbClr val="E2E8F0"/>
                </a:solidFill>
                <a:latin typeface="Segoe UI"/>
              </a:defRPr>
            </a:pPr>
            <a:r>
              <a:t>• Reine Datenbank-Suchen (Topologie-Code) scheitern bei gänzlich unbekannten Elementumgebungen (NaN).</a:t>
            </a:r>
          </a:p>
          <a:p>
            <a:pPr>
              <a:spcBef>
                <a:spcPts val="1000"/>
              </a:spcBef>
              <a:spcAft>
                <a:spcPts val="400"/>
              </a:spcAft>
              <a:defRPr sz="1500" b="1">
                <a:solidFill>
                  <a:srgbClr val="FFFFFF"/>
                </a:solidFill>
                <a:latin typeface="Segoe UI"/>
              </a:defRPr>
            </a:pPr>
            <a:r>
              <a:t>Der Konsens-Ansatz der App:</a:t>
            </a:r>
          </a:p>
          <a:p>
            <a:pPr>
              <a:spcAft>
                <a:spcPts val="1000"/>
              </a:spcAft>
              <a:defRPr sz="1500">
                <a:solidFill>
                  <a:srgbClr val="E2E8F0"/>
                </a:solidFill>
                <a:latin typeface="Segoe UI"/>
              </a:defRPr>
            </a:pPr>
            <a:r>
              <a:t>• CASCADE liefert die elektronische Konstitution über tiefe chemische Graphen.</a:t>
            </a:r>
          </a:p>
          <a:p>
            <a:pPr>
              <a:spcAft>
                <a:spcPts val="1000"/>
              </a:spcAft>
              <a:defRPr sz="1500">
                <a:solidFill>
                  <a:srgbClr val="E2E8F0"/>
                </a:solidFill>
                <a:latin typeface="Segoe UI"/>
              </a:defRPr>
            </a:pPr>
            <a:r>
              <a:t>• EST-NMR berechnet direkte physikalische Einflüsse über 3D-Tensoren.</a:t>
            </a:r>
          </a:p>
          <a:p>
            <a:pPr>
              <a:spcAft>
                <a:spcPts val="1000"/>
              </a:spcAft>
              <a:defRPr sz="1500">
                <a:solidFill>
                  <a:srgbClr val="E2E8F0"/>
                </a:solidFill>
                <a:latin typeface="Segoe UI"/>
              </a:defRPr>
            </a:pPr>
            <a:r>
              <a:t>• DCode spiegelt bewährtes, empirisches Wissen aus Messungen wider.</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Multi-Modell Consensus</a:t>
            </a:r>
          </a:p>
          <a:p>
            <a:pPr>
              <a:spcBef>
                <a:spcPts val="1000"/>
              </a:spcBef>
              <a:defRPr sz="1500">
                <a:solidFill>
                  <a:srgbClr val="E2E8F0"/>
                </a:solidFill>
                <a:latin typeface="Segoe UI"/>
              </a:defRPr>
            </a:pPr>
            <a:r>
              <a:t>Die App aggregiert die Stärken dreier orthogonaler Modelle.</a:t>
            </a:r>
            <a:br/>
            <a:br/>
            <a:r>
              <a:t>Aus der Diskrepanz der Ergebnisse ermitteln wir direkt die Unsicherheit der Prognose.</a:t>
            </a:r>
            <a:br/>
            <a:br/>
            <a:r>
              <a:t>Durch den Konsens reduzieren wir gravierende Ausreißer und heben systematische Fehler der Einzelsysteme auf.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System-Architektur &amp; Programmablauf</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10712"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44952" cy="4206240"/>
          </a:xfrm>
          <a:prstGeom prst="rect">
            <a:avLst/>
          </a:prstGeom>
          <a:noFill/>
        </p:spPr>
        <p:txBody>
          <a:bodyPr wrap="square" lIns="0" rIns="0" tIns="0" bIns="0">
            <a:spAutoFit/>
          </a:bodyPr>
          <a:lstStyle/>
          <a:p>
            <a:pPr>
              <a:spcAft>
                <a:spcPts val="1400"/>
              </a:spcAft>
              <a:defRPr sz="2000" b="1">
                <a:solidFill>
                  <a:srgbClr val="38BDF8"/>
                </a:solidFill>
                <a:latin typeface="Segoe UI"/>
              </a:defRPr>
            </a:pPr>
            <a:r>
              <a:t>1. EINGABE</a:t>
            </a:r>
          </a:p>
          <a:p>
            <a:pPr>
              <a:spcBef>
                <a:spcPts val="1000"/>
              </a:spcBef>
              <a:defRPr sz="1400">
                <a:solidFill>
                  <a:srgbClr val="E2E8F0"/>
                </a:solidFill>
                <a:latin typeface="Segoe UI"/>
              </a:defRPr>
            </a:pPr>
            <a:r>
              <a:t>• Eingabe eines SMILES-Strings im Textfeld</a:t>
            </a:r>
            <a:br/>
            <a:br/>
            <a:r>
              <a:t>• Offline Ketcher-Editor zur 2D-Strukturskizzierung</a:t>
            </a:r>
            <a:br/>
            <a:br/>
            <a:r>
              <a:t>• Generierung des RDKit-Molekülobjekts und 2D-SVG-Vektorgrafik</a:t>
            </a:r>
          </a:p>
        </p:txBody>
      </p:sp>
      <p:sp>
        <p:nvSpPr>
          <p:cNvPr id="7" name="Rounded Rectangle 6"/>
          <p:cNvSpPr/>
          <p:nvPr/>
        </p:nvSpPr>
        <p:spPr>
          <a:xfrm>
            <a:off x="4389120" y="1645920"/>
            <a:ext cx="3410712"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28800"/>
            <a:ext cx="3044952" cy="4206240"/>
          </a:xfrm>
          <a:prstGeom prst="rect">
            <a:avLst/>
          </a:prstGeom>
          <a:noFill/>
        </p:spPr>
        <p:txBody>
          <a:bodyPr wrap="square" lIns="0" rIns="0" tIns="0" bIns="0">
            <a:spAutoFit/>
          </a:bodyPr>
          <a:lstStyle/>
          <a:p>
            <a:pPr>
              <a:spcAft>
                <a:spcPts val="1400"/>
              </a:spcAft>
              <a:defRPr sz="2000" b="1">
                <a:solidFill>
                  <a:srgbClr val="38BDF8"/>
                </a:solidFill>
                <a:latin typeface="Segoe UI"/>
              </a:defRPr>
            </a:pPr>
            <a:r>
              <a:t>2. PROZESSIERUNG</a:t>
            </a:r>
          </a:p>
          <a:p>
            <a:pPr>
              <a:spcBef>
                <a:spcPts val="1000"/>
              </a:spcBef>
              <a:defRPr sz="1400">
                <a:solidFill>
                  <a:srgbClr val="E2E8F0"/>
                </a:solidFill>
                <a:latin typeface="Segoe UI"/>
              </a:defRPr>
            </a:pPr>
            <a:r>
              <a:t>• Lazy Loading der schweren Modelle und der CSV-DB erst beim 1. Berechnen-Klick</a:t>
            </a:r>
            <a:br/>
            <a:br/>
            <a:r>
              <a:t>• Generierung von 10 Geometrien via Distanzgeometrie</a:t>
            </a:r>
            <a:br/>
            <a:br/>
            <a:r>
              <a:t>• Energieminimierung (MMFF94-Kraftfeld) für Energien E_i</a:t>
            </a:r>
          </a:p>
        </p:txBody>
      </p:sp>
      <p:sp>
        <p:nvSpPr>
          <p:cNvPr id="9" name="Rounded Rectangle 8"/>
          <p:cNvSpPr/>
          <p:nvPr/>
        </p:nvSpPr>
        <p:spPr>
          <a:xfrm>
            <a:off x="8046720" y="1645920"/>
            <a:ext cx="3410712"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28800"/>
            <a:ext cx="3044952" cy="4206240"/>
          </a:xfrm>
          <a:prstGeom prst="rect">
            <a:avLst/>
          </a:prstGeom>
          <a:noFill/>
        </p:spPr>
        <p:txBody>
          <a:bodyPr wrap="square" lIns="0" rIns="0" tIns="0" bIns="0">
            <a:spAutoFit/>
          </a:bodyPr>
          <a:lstStyle/>
          <a:p>
            <a:pPr>
              <a:spcAft>
                <a:spcPts val="1400"/>
              </a:spcAft>
              <a:defRPr sz="2000" b="1">
                <a:solidFill>
                  <a:srgbClr val="38BDF8"/>
                </a:solidFill>
                <a:latin typeface="Segoe UI"/>
              </a:defRPr>
            </a:pPr>
            <a:r>
              <a:t>3. AGGREGATION &amp; UI</a:t>
            </a:r>
          </a:p>
          <a:p>
            <a:pPr>
              <a:spcBef>
                <a:spcPts val="1000"/>
              </a:spcBef>
              <a:defRPr sz="1400">
                <a:solidFill>
                  <a:srgbClr val="E2E8F0"/>
                </a:solidFill>
                <a:latin typeface="Segoe UI"/>
              </a:defRPr>
            </a:pPr>
            <a:r>
              <a:t>• Parallele Vorhersagen mit CASCADE (GNN), EST-NMR (3D-NN) &amp; DCode</a:t>
            </a:r>
            <a:br/>
            <a:br/>
            <a:r>
              <a:t>• Thermodynamische Boltzmann-Mittelung über alle Konformere</a:t>
            </a:r>
            <a:br/>
            <a:br/>
            <a:r>
              <a:t>• Spannweitenprüfung (&gt; 5 ppm = ⚠️) und interaktiver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Modell 1: CASCADE (Graph Neural Network)</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Das Graph Neural Network (GNN):</a:t>
            </a:r>
          </a:p>
          <a:p>
            <a:pPr>
              <a:spcAft>
                <a:spcPts val="1000"/>
              </a:spcAft>
              <a:defRPr sz="1500">
                <a:solidFill>
                  <a:srgbClr val="E2E8F0"/>
                </a:solidFill>
                <a:latin typeface="Segoe UI"/>
              </a:defRPr>
            </a:pPr>
            <a:r>
              <a:t>• Basiert auf einem tf_keras/nfp GraphModel.</a:t>
            </a:r>
          </a:p>
          <a:p>
            <a:pPr>
              <a:spcAft>
                <a:spcPts val="1000"/>
              </a:spcAft>
              <a:defRPr sz="1500">
                <a:solidFill>
                  <a:srgbClr val="E2E8F0"/>
                </a:solidFill>
                <a:latin typeface="Segoe UI"/>
              </a:defRPr>
            </a:pPr>
            <a:r>
              <a:t>• Repräsentation des Moleküls als mathematischer Graph.</a:t>
            </a:r>
          </a:p>
          <a:p>
            <a:pPr>
              <a:spcAft>
                <a:spcPts val="1000"/>
              </a:spcAft>
              <a:defRPr sz="1500">
                <a:solidFill>
                  <a:srgbClr val="E2E8F0"/>
                </a:solidFill>
                <a:latin typeface="Segoe UI"/>
              </a:defRPr>
            </a:pPr>
            <a:r>
              <a:t>  - Atome = Knoten (Ordnungszahl, Hybridisierung, Ladung)</a:t>
            </a:r>
          </a:p>
          <a:p>
            <a:pPr>
              <a:spcAft>
                <a:spcPts val="1000"/>
              </a:spcAft>
              <a:defRPr sz="1500">
                <a:solidFill>
                  <a:srgbClr val="E2E8F0"/>
                </a:solidFill>
                <a:latin typeface="Segoe UI"/>
              </a:defRPr>
            </a:pPr>
            <a:r>
              <a:t>  - Bindungen = Kanten (Bindungsordnung, Ringzugehörigkeit)</a:t>
            </a:r>
          </a:p>
          <a:p>
            <a:pPr>
              <a:spcAft>
                <a:spcPts val="1000"/>
              </a:spcAft>
              <a:defRPr sz="1500">
                <a:solidFill>
                  <a:srgbClr val="E2E8F0"/>
                </a:solidFill>
                <a:latin typeface="Segoe UI"/>
              </a:defRPr>
            </a:pPr>
            <a:r>
              <a:t>• Message-Passing-Layer transportieren elektronische Information über Bindungen hinweg.</a:t>
            </a:r>
          </a:p>
          <a:p>
            <a:pPr>
              <a:spcBef>
                <a:spcPts val="1000"/>
              </a:spcBef>
              <a:spcAft>
                <a:spcPts val="400"/>
              </a:spcAft>
              <a:defRPr sz="1500" b="1">
                <a:solidFill>
                  <a:srgbClr val="FFFFFF"/>
                </a:solidFill>
                <a:latin typeface="Segoe UI"/>
              </a:defRPr>
            </a:pPr>
            <a:r>
              <a:t>Modellspezifisches Boltzmann-Ensemble:</a:t>
            </a:r>
          </a:p>
          <a:p>
            <a:pPr>
              <a:spcAft>
                <a:spcPts val="1000"/>
              </a:spcAft>
              <a:defRPr sz="1500">
                <a:solidFill>
                  <a:srgbClr val="E2E8F0"/>
                </a:solidFill>
                <a:latin typeface="Segoe UI"/>
              </a:defRPr>
            </a:pPr>
            <a:r>
              <a:t>• CASCADE generiert intern eigene Konformere.</a:t>
            </a:r>
          </a:p>
          <a:p>
            <a:pPr>
              <a:spcAft>
                <a:spcPts val="1000"/>
              </a:spcAft>
              <a:defRPr sz="1500">
                <a:solidFill>
                  <a:srgbClr val="E2E8F0"/>
                </a:solidFill>
                <a:latin typeface="Segoe UI"/>
              </a:defRPr>
            </a:pPr>
            <a:r>
              <a:t>• Gewichtung der einzelnen 3D-Vorhersagen erfolgt über relative MMFF-Kräftefeld-Energien.</a:t>
            </a:r>
          </a:p>
          <a:p>
            <a:pPr>
              <a:spcAft>
                <a:spcPts val="1000"/>
              </a:spcAft>
              <a:defRPr sz="1500">
                <a:solidFill>
                  <a:srgbClr val="E2E8F0"/>
                </a:solidFill>
                <a:latin typeface="Segoe UI"/>
              </a:defRPr>
            </a:pPr>
            <a:r>
              <a:t>• Trainiert für die Standardelemente: C, H, N, O, S, P, F, Cl.</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Elektronischer Fokus</a:t>
            </a:r>
          </a:p>
          <a:p>
            <a:pPr>
              <a:spcBef>
                <a:spcPts val="1000"/>
              </a:spcBef>
              <a:defRPr sz="1500">
                <a:solidFill>
                  <a:srgbClr val="E2E8F0"/>
                </a:solidFill>
                <a:latin typeface="Segoe UI"/>
              </a:defRPr>
            </a:pPr>
            <a:r>
              <a:t>CASCADE erfasst elektronische Effekte (Mesomerie, Induktiveffekte) exzellent, da das neuronale Netz den molekularen Graphen direkt liest.</a:t>
            </a:r>
            <a:br/>
            <a:br/>
            <a:r>
              <a:t>Es gleicht elektronische Ladungen robust aus, ist jedoch auf sein Trainingsset beschränkt.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Modell 2: EST-NMR (3D PyTorch Neural Network)</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Das 3D-Koordinaten-Modell (PyTorch):</a:t>
            </a:r>
          </a:p>
          <a:p>
            <a:pPr>
              <a:spcAft>
                <a:spcPts val="1000"/>
              </a:spcAft>
              <a:defRPr sz="1500">
                <a:solidFill>
                  <a:srgbClr val="E2E8F0"/>
                </a:solidFill>
                <a:latin typeface="Segoe UI"/>
              </a:defRPr>
            </a:pPr>
            <a:r>
              <a:t>• Pre-trained PyTorch Modell ('DLNMR1.pt'), über JIT geladen.</a:t>
            </a:r>
          </a:p>
          <a:p>
            <a:pPr>
              <a:spcAft>
                <a:spcPts val="1000"/>
              </a:spcAft>
              <a:defRPr sz="1500">
                <a:solidFill>
                  <a:srgbClr val="E2E8F0"/>
                </a:solidFill>
                <a:latin typeface="Segoe UI"/>
              </a:defRPr>
            </a:pPr>
            <a:r>
              <a:t>• Operiert direkt auf den dreidimensionalen Atomkoordinaten.</a:t>
            </a:r>
          </a:p>
          <a:p>
            <a:pPr>
              <a:spcAft>
                <a:spcPts val="1000"/>
              </a:spcAft>
              <a:defRPr sz="1500">
                <a:solidFill>
                  <a:srgbClr val="E2E8F0"/>
                </a:solidFill>
                <a:latin typeface="Segoe UI"/>
              </a:defRPr>
            </a:pPr>
            <a:r>
              <a:t>• Benötigt zwei Tensoren als Input:</a:t>
            </a:r>
          </a:p>
          <a:p>
            <a:pPr>
              <a:spcAft>
                <a:spcPts val="1000"/>
              </a:spcAft>
              <a:defRPr sz="1500">
                <a:solidFill>
                  <a:srgbClr val="E2E8F0"/>
                </a:solidFill>
                <a:latin typeface="Segoe UI"/>
              </a:defRPr>
            </a:pPr>
            <a:r>
              <a:t>  - Z-Tensor: Atomnummern (Z)</a:t>
            </a:r>
          </a:p>
          <a:p>
            <a:pPr>
              <a:spcAft>
                <a:spcPts val="1000"/>
              </a:spcAft>
              <a:defRPr sz="1500">
                <a:solidFill>
                  <a:srgbClr val="E2E8F0"/>
                </a:solidFill>
                <a:latin typeface="Segoe UI"/>
              </a:defRPr>
            </a:pPr>
            <a:r>
              <a:t>  - R-Tensor: Kartesische 3D-Koordinaten (R)</a:t>
            </a:r>
          </a:p>
          <a:p>
            <a:pPr>
              <a:spcBef>
                <a:spcPts val="1000"/>
              </a:spcBef>
              <a:spcAft>
                <a:spcPts val="400"/>
              </a:spcAft>
              <a:defRPr sz="1500" b="1">
                <a:solidFill>
                  <a:srgbClr val="FFFFFF"/>
                </a:solidFill>
                <a:latin typeface="Segoe UI"/>
              </a:defRPr>
            </a:pPr>
            <a:r>
              <a:t>Integration zweier Modi in der App:</a:t>
            </a:r>
          </a:p>
          <a:p>
            <a:pPr>
              <a:spcBef>
                <a:spcPts val="1000"/>
              </a:spcBef>
              <a:spcAft>
                <a:spcPts val="400"/>
              </a:spcAft>
              <a:defRPr sz="1500" b="1">
                <a:solidFill>
                  <a:srgbClr val="FFFFFF"/>
                </a:solidFill>
                <a:latin typeface="Segoe UI"/>
              </a:defRPr>
            </a:pPr>
            <a:r>
              <a:t>1. EST-NMR (Single):</a:t>
            </a:r>
          </a:p>
          <a:p>
            <a:pPr>
              <a:spcAft>
                <a:spcPts val="1000"/>
              </a:spcAft>
              <a:defRPr sz="1500">
                <a:solidFill>
                  <a:srgbClr val="E2E8F0"/>
                </a:solidFill>
                <a:latin typeface="Segoe UI"/>
              </a:defRPr>
            </a:pPr>
            <a:r>
              <a:t>   Berechnung des stabilsten Kraftfeld-Konformers (Minimum).</a:t>
            </a:r>
          </a:p>
          <a:p>
            <a:pPr>
              <a:spcBef>
                <a:spcPts val="1000"/>
              </a:spcBef>
              <a:spcAft>
                <a:spcPts val="400"/>
              </a:spcAft>
              <a:defRPr sz="1500" b="1">
                <a:solidFill>
                  <a:srgbClr val="FFFFFF"/>
                </a:solidFill>
                <a:latin typeface="Segoe UI"/>
              </a:defRPr>
            </a:pPr>
            <a:r>
              <a:t>2. EST-NMR (Boltz):</a:t>
            </a:r>
          </a:p>
          <a:p>
            <a:pPr>
              <a:spcAft>
                <a:spcPts val="1000"/>
              </a:spcAft>
              <a:defRPr sz="1500">
                <a:solidFill>
                  <a:srgbClr val="E2E8F0"/>
                </a:solidFill>
                <a:latin typeface="Segoe UI"/>
              </a:defRPr>
            </a:pPr>
            <a:r>
              <a:t>   Berechnung für alle 10 RDKit-Konformere mit Boltzmann-Mittelwert.</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Geometrischer Fokus</a:t>
            </a:r>
          </a:p>
          <a:p>
            <a:pPr>
              <a:spcBef>
                <a:spcPts val="1000"/>
              </a:spcBef>
              <a:defRPr sz="1500">
                <a:solidFill>
                  <a:srgbClr val="E2E8F0"/>
                </a:solidFill>
                <a:latin typeface="Segoe UI"/>
              </a:defRPr>
            </a:pPr>
            <a:r>
              <a:t>EST-NMR reagiert extrem sensitiv auf Geometrieeffekte:</a:t>
            </a:r>
            <a:br/>
            <a:br/>
            <a:r>
              <a:t>• Räumliche Hinderungen</a:t>
            </a:r>
            <a:br/>
            <a:r>
              <a:t>• Ring- und Torsionsspannungen</a:t>
            </a:r>
            <a:br/>
            <a:r>
              <a:t>• Stereochemische Asymmetrie</a:t>
            </a:r>
            <a:br/>
            <a:br/>
            <a:r>
              <a:t>Das Modell arbeitet rein koordinatenbasiert und erfasst Effekte, die in flachen Graphen unsichtbar sind.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Modell 3: DCode (Distance &amp; Topology Code)</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Der lokale Datenbank-Abgleich (Empirie):</a:t>
            </a:r>
          </a:p>
          <a:p>
            <a:pPr>
              <a:spcAft>
                <a:spcPts val="1000"/>
              </a:spcAft>
              <a:defRPr sz="1500">
                <a:solidFill>
                  <a:srgbClr val="E2E8F0"/>
                </a:solidFill>
                <a:latin typeface="Segoe UI"/>
              </a:defRPr>
            </a:pPr>
            <a:r>
              <a:t>• Nutzt den topologischen Algorithmus aus dem Github-Projekt steto123/dcode.</a:t>
            </a:r>
          </a:p>
          <a:p>
            <a:pPr>
              <a:spcAft>
                <a:spcPts val="1000"/>
              </a:spcAft>
              <a:defRPr sz="1500">
                <a:solidFill>
                  <a:srgbClr val="E2E8F0"/>
                </a:solidFill>
                <a:latin typeface="Segoe UI"/>
              </a:defRPr>
            </a:pPr>
            <a:r>
              <a:t>• Durchsucht eine ca. 47 MB große CSV-Wissensdatenbank (v3_update_23_10_2025.csv).</a:t>
            </a:r>
          </a:p>
          <a:p>
            <a:pPr>
              <a:spcBef>
                <a:spcPts val="1000"/>
              </a:spcBef>
              <a:spcAft>
                <a:spcPts val="400"/>
              </a:spcAft>
              <a:defRPr sz="1500" b="1">
                <a:solidFill>
                  <a:srgbClr val="FFFFFF"/>
                </a:solidFill>
                <a:latin typeface="Segoe UI"/>
              </a:defRPr>
            </a:pPr>
            <a:r>
              <a:t>Generierung des topologischen String-Codes:</a:t>
            </a:r>
          </a:p>
          <a:p>
            <a:pPr>
              <a:spcAft>
                <a:spcPts val="1000"/>
              </a:spcAft>
              <a:defRPr sz="1500">
                <a:solidFill>
                  <a:srgbClr val="E2E8F0"/>
                </a:solidFill>
                <a:latin typeface="Segoe UI"/>
              </a:defRPr>
            </a:pPr>
            <a:r>
              <a:t>• Für jedes Kohlenstoffatom eines 3D-Konformers wird die Umgebung analysiert.</a:t>
            </a:r>
          </a:p>
          <a:p>
            <a:pPr>
              <a:spcAft>
                <a:spcPts val="1000"/>
              </a:spcAft>
              <a:defRPr sz="1500">
                <a:solidFill>
                  <a:srgbClr val="E2E8F0"/>
                </a:solidFill>
                <a:latin typeface="Segoe UI"/>
              </a:defRPr>
            </a:pPr>
            <a:r>
              <a:t>• Erfassung aller Nachbarn und Atomtypen in einem Radius von 6 Ångström.</a:t>
            </a:r>
          </a:p>
          <a:p>
            <a:pPr>
              <a:spcAft>
                <a:spcPts val="1000"/>
              </a:spcAft>
              <a:defRPr sz="1500">
                <a:solidFill>
                  <a:srgbClr val="E2E8F0"/>
                </a:solidFill>
                <a:latin typeface="Segoe UI"/>
              </a:defRPr>
            </a:pPr>
            <a:r>
              <a:t>• Codierung dieser Daten in einen eindeutigen String (z.B. 'C4rn@...').</a:t>
            </a:r>
          </a:p>
          <a:p>
            <a:pPr>
              <a:spcBef>
                <a:spcPts val="1000"/>
              </a:spcBef>
              <a:spcAft>
                <a:spcPts val="400"/>
              </a:spcAft>
              <a:defRPr sz="1500" b="1">
                <a:solidFill>
                  <a:srgbClr val="FFFFFF"/>
                </a:solidFill>
                <a:latin typeface="Segoe UI"/>
              </a:defRPr>
            </a:pPr>
            <a:r>
              <a:t>Ergebnisermittlung:</a:t>
            </a:r>
          </a:p>
          <a:p>
            <a:pPr>
              <a:spcAft>
                <a:spcPts val="1000"/>
              </a:spcAft>
              <a:defRPr sz="1500">
                <a:solidFill>
                  <a:srgbClr val="E2E8F0"/>
                </a:solidFill>
                <a:latin typeface="Segoe UI"/>
              </a:defRPr>
            </a:pPr>
            <a:r>
              <a:t>• Bei einem exakten Treffer in der DB wird der gemessene empirische Mittelwert herangezogen.</a:t>
            </a:r>
          </a:p>
          <a:p>
            <a:pPr>
              <a:spcAft>
                <a:spcPts val="1000"/>
              </a:spcAft>
              <a:defRPr sz="1500">
                <a:solidFill>
                  <a:srgbClr val="E2E8F0"/>
                </a:solidFill>
                <a:latin typeface="Segoe UI"/>
              </a:defRPr>
            </a:pPr>
            <a:r>
              <a:t>• Boltzmann-Mittelung über 10 Konformere sichert die Dynamik.</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Empirischer Fokus</a:t>
            </a:r>
          </a:p>
          <a:p>
            <a:pPr>
              <a:spcBef>
                <a:spcPts val="1000"/>
              </a:spcBef>
              <a:defRPr sz="1500">
                <a:solidFill>
                  <a:srgbClr val="E2E8F0"/>
                </a:solidFill>
                <a:latin typeface="Segoe UI"/>
              </a:defRPr>
            </a:pPr>
            <a:r>
              <a:t>DCode liefert extrem präzise Ergebnisse, da es reale experimentelle Messdaten von Fragmenten direkt abfragt.</a:t>
            </a:r>
            <a:br/>
            <a:br/>
            <a:r>
              <a:t>Limitation:</a:t>
            </a:r>
            <a:br/>
            <a:r>
              <a:t>Bei völlig neuen funktionellen Gruppen oder Fragmenten gibt es keinen DB-Eintrag. DCode gibt dann 'NaN' (kein Treffer) zurück.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Physikalisches Fundament: Konformere &amp; Boltzmann</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Thermodynamische Repräsentation:</a:t>
            </a:r>
          </a:p>
          <a:p>
            <a:pPr>
              <a:spcAft>
                <a:spcPts val="1000"/>
              </a:spcAft>
              <a:defRPr sz="1500">
                <a:solidFill>
                  <a:srgbClr val="E2E8F0"/>
                </a:solidFill>
                <a:latin typeface="Segoe UI"/>
              </a:defRPr>
            </a:pPr>
            <a:r>
              <a:t>• In Lösung liegen Moleküle als dynamisches Ensemble verschiedener Rotamere und Geometrien vor.</a:t>
            </a:r>
          </a:p>
          <a:p>
            <a:pPr>
              <a:spcBef>
                <a:spcPts val="1000"/>
              </a:spcBef>
              <a:spcAft>
                <a:spcPts val="400"/>
              </a:spcAft>
              <a:defRPr sz="1500" b="1">
                <a:solidFill>
                  <a:srgbClr val="FFFFFF"/>
                </a:solidFill>
                <a:latin typeface="Segoe UI"/>
              </a:defRPr>
            </a:pPr>
            <a:r>
              <a:t>1. Geometrie-Generierung:</a:t>
            </a:r>
          </a:p>
          <a:p>
            <a:pPr>
              <a:spcAft>
                <a:spcPts val="1000"/>
              </a:spcAft>
              <a:defRPr sz="1500">
                <a:solidFill>
                  <a:srgbClr val="E2E8F0"/>
                </a:solidFill>
                <a:latin typeface="Segoe UI"/>
              </a:defRPr>
            </a:pPr>
            <a:r>
              <a:t>   RDKit erzeugt 10 dreidimensionale Strukturen via Distanzgeometrie.</a:t>
            </a:r>
          </a:p>
          <a:p>
            <a:pPr>
              <a:spcBef>
                <a:spcPts val="1000"/>
              </a:spcBef>
              <a:spcAft>
                <a:spcPts val="400"/>
              </a:spcAft>
              <a:defRPr sz="1500" b="1">
                <a:solidFill>
                  <a:srgbClr val="FFFFFF"/>
                </a:solidFill>
                <a:latin typeface="Segoe UI"/>
              </a:defRPr>
            </a:pPr>
            <a:r>
              <a:t>2. Kraftfeld-Minimierung:</a:t>
            </a:r>
          </a:p>
          <a:p>
            <a:pPr>
              <a:spcAft>
                <a:spcPts val="1000"/>
              </a:spcAft>
              <a:defRPr sz="1500">
                <a:solidFill>
                  <a:srgbClr val="E2E8F0"/>
                </a:solidFill>
                <a:latin typeface="Segoe UI"/>
              </a:defRPr>
            </a:pPr>
            <a:r>
              <a:t>   Optimierung aller Geometrien im MMFF94-Kraftfeld zur Bestimmung der absoluten Energie E_i.</a:t>
            </a:r>
          </a:p>
          <a:p>
            <a:pPr>
              <a:spcBef>
                <a:spcPts val="1000"/>
              </a:spcBef>
              <a:spcAft>
                <a:spcPts val="400"/>
              </a:spcAft>
              <a:defRPr sz="1500" b="1">
                <a:solidFill>
                  <a:srgbClr val="FFFFFF"/>
                </a:solidFill>
                <a:latin typeface="Segoe UI"/>
              </a:defRPr>
            </a:pPr>
            <a:r>
              <a:t>3. Bestimmung der relativen Energien:</a:t>
            </a:r>
          </a:p>
          <a:p>
            <a:pPr>
              <a:spcAft>
                <a:spcPts val="1000"/>
              </a:spcAft>
              <a:defRPr sz="1500">
                <a:solidFill>
                  <a:srgbClr val="E2E8F0"/>
                </a:solidFill>
                <a:latin typeface="Segoe UI"/>
              </a:defRPr>
            </a:pPr>
            <a:r>
              <a:t>   dE_i = E_i - E_min (bezogen auf das stabilste Konformer).</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Boltzmann-Gewichtung</a:t>
            </a:r>
          </a:p>
          <a:p>
            <a:pPr>
              <a:spcBef>
                <a:spcPts val="1000"/>
              </a:spcBef>
              <a:defRPr sz="1500">
                <a:solidFill>
                  <a:srgbClr val="E2E8F0"/>
                </a:solidFill>
                <a:latin typeface="Segoe UI"/>
              </a:defRPr>
            </a:pPr>
            <a:r>
              <a:t>Die relative Energie steuert den statistischen Anteil des Konformers:</a:t>
            </a:r>
            <a:br/>
            <a:br/>
            <a:r>
              <a:t>  w_i = exp(-dE_i / R*T) / sum( exp(-dE_j / R*T) )</a:t>
            </a:r>
            <a:br/>
            <a:br/>
            <a:r>
              <a:t>Parameter (Raumtemperatur 25°C):</a:t>
            </a:r>
            <a:br/>
            <a:r>
              <a:t>• T = 298.15 Kelvin</a:t>
            </a:r>
            <a:br/>
            <a:r>
              <a:t>• R = 0.001987 kcal / (mol * K)</a:t>
            </a:r>
            <a:br/>
            <a:r>
              <a:t>• R * T ≈ 0.5924 kcal / mol</a:t>
            </a:r>
            <a:br/>
            <a:br/>
            <a:r>
              <a:t>Energiereiche Konformere (dE &gt; 3 kcal/mol) tragen weniger als 1% zum Endergebnis bei und werden gedämpft.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Qualitätssicherung: Die Range-Metrik (Spannweite)</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Fehlereinschätzung durch Modellvergleich:</a:t>
            </a:r>
          </a:p>
          <a:p>
            <a:pPr>
              <a:spcAft>
                <a:spcPts val="1000"/>
              </a:spcAft>
              <a:defRPr sz="1500">
                <a:solidFill>
                  <a:srgbClr val="E2E8F0"/>
                </a:solidFill>
                <a:latin typeface="Segoe UI"/>
              </a:defRPr>
            </a:pPr>
            <a:r>
              <a:t>• Für jedes Kohlenstoffatom werden die Shifts aller Modelle (CASCADE, EST-NMR, EST-NMR Boltz, DCode) gesammelt.</a:t>
            </a:r>
          </a:p>
          <a:p>
            <a:pPr>
              <a:spcAft>
                <a:spcPts val="1000"/>
              </a:spcAft>
              <a:defRPr sz="1500">
                <a:solidFill>
                  <a:srgbClr val="E2E8F0"/>
                </a:solidFill>
                <a:latin typeface="Segoe UI"/>
              </a:defRPr>
            </a:pPr>
            <a:r>
              <a:t>• Die Spannweite (Range) berechnet sich pro Atom:</a:t>
            </a:r>
          </a:p>
          <a:p>
            <a:pPr>
              <a:spcAft>
                <a:spcPts val="1000"/>
              </a:spcAft>
              <a:defRPr sz="1500">
                <a:solidFill>
                  <a:srgbClr val="E2E8F0"/>
                </a:solidFill>
                <a:latin typeface="Segoe UI"/>
              </a:defRPr>
            </a:pPr>
            <a:r>
              <a:t>  Spannweite = Max(Modellverschiebungen) - Min(Modellverschiebungen)</a:t>
            </a:r>
          </a:p>
          <a:p>
            <a:pPr>
              <a:spcAft>
                <a:spcPts val="1000"/>
              </a:spcAft>
              <a:defRPr sz="1500">
                <a:solidFill>
                  <a:srgbClr val="E2E8F0"/>
                </a:solidFill>
                <a:latin typeface="Segoe UI"/>
              </a:defRPr>
            </a:pPr>
            <a:r>
              <a:t>• Ein Grenzwert von 5.0 ppm dient als Indikator.</a:t>
            </a:r>
          </a:p>
          <a:p>
            <a:pPr>
              <a:spcBef>
                <a:spcPts val="1000"/>
              </a:spcBef>
              <a:spcAft>
                <a:spcPts val="400"/>
              </a:spcAft>
              <a:defRPr sz="1500" b="1">
                <a:solidFill>
                  <a:srgbClr val="FFFFFF"/>
                </a:solidFill>
                <a:latin typeface="Segoe UI"/>
              </a:defRPr>
            </a:pPr>
            <a:r>
              <a:t>Visualisierung im User Interface:</a:t>
            </a:r>
          </a:p>
          <a:p>
            <a:pPr>
              <a:spcAft>
                <a:spcPts val="1000"/>
              </a:spcAft>
              <a:defRPr sz="1500">
                <a:solidFill>
                  <a:srgbClr val="E2E8F0"/>
                </a:solidFill>
                <a:latin typeface="Segoe UI"/>
              </a:defRPr>
            </a:pPr>
            <a:r>
              <a:t>• Überschreitet die Abweichung 5.0 ppm, wird die Tabellenzelle rot hinterlegt.</a:t>
            </a:r>
          </a:p>
          <a:p>
            <a:pPr>
              <a:spcAft>
                <a:spcPts val="1000"/>
              </a:spcAft>
              <a:defRPr sz="1500">
                <a:solidFill>
                  <a:srgbClr val="E2E8F0"/>
                </a:solidFill>
                <a:latin typeface="Segoe UI"/>
              </a:defRPr>
            </a:pPr>
            <a:r>
              <a:t>• Ein Warnsymbol (⚠️) signalisiert Unsicherheit.</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Diskrepanzwarnung ab 5.0 ppm</a:t>
            </a:r>
          </a:p>
          <a:p>
            <a:pPr>
              <a:spcBef>
                <a:spcPts val="1000"/>
              </a:spcBef>
              <a:defRPr sz="1500">
                <a:solidFill>
                  <a:srgbClr val="E2E8F0"/>
                </a:solidFill>
                <a:latin typeface="Segoe UI"/>
              </a:defRPr>
            </a:pPr>
            <a:r>
              <a:t>Die Range-Metrik dient als direkter Qualitätsindikator für den Anwender:</a:t>
            </a:r>
            <a:br/>
            <a:br/>
            <a:r>
              <a:t>• Sie warnt vor ungewöhnlichen elektronischen Effekten.</a:t>
            </a:r>
            <a:br/>
            <a:r>
              <a:t>• Sie zeigt sterische Hinderungen oder Verzerrungen auf.</a:t>
            </a:r>
            <a:br/>
            <a:r>
              <a:t>• Sie markiert lokale Fehler in der Kraftfeldgeometrie.</a:t>
            </a:r>
            <a:br/>
            <a:br/>
            <a:r>
              <a:t>Die Modelle weichen an instabilen Stellen automatisch voneinander ab, was den Experten sensibilisiert.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Chemische Äquivalenz: Symmetrie-Mittelung</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Das Problem asymmetrischer 3D-Modelle:</a:t>
            </a:r>
          </a:p>
          <a:p>
            <a:pPr>
              <a:spcAft>
                <a:spcPts val="1000"/>
              </a:spcAft>
              <a:defRPr sz="1500">
                <a:solidFill>
                  <a:srgbClr val="E2E8F0"/>
                </a:solidFill>
                <a:latin typeface="Segoe UI"/>
              </a:defRPr>
            </a:pPr>
            <a:r>
              <a:t>• Chemisch äquivalente Atome (z.B. frei rotierende Methylgruppen) besitzen in Lösung exakt denselben Shift.</a:t>
            </a:r>
          </a:p>
          <a:p>
            <a:pPr>
              <a:spcAft>
                <a:spcPts val="1000"/>
              </a:spcAft>
              <a:defRPr sz="1500">
                <a:solidFill>
                  <a:srgbClr val="E2E8F0"/>
                </a:solidFill>
                <a:latin typeface="Segoe UI"/>
              </a:defRPr>
            </a:pPr>
            <a:r>
              <a:t>• Statische 3D-Modelle im Kraftfeld weisen jedoch immer minimale asymmetrische Verwerfungen auf.</a:t>
            </a:r>
          </a:p>
          <a:p>
            <a:pPr>
              <a:spcAft>
                <a:spcPts val="1000"/>
              </a:spcAft>
              <a:defRPr sz="1500">
                <a:solidFill>
                  <a:srgbClr val="E2E8F0"/>
                </a:solidFill>
                <a:latin typeface="Segoe UI"/>
              </a:defRPr>
            </a:pPr>
            <a:r>
              <a:t>• EST-NMR und DCode liefern dadurch leicht asymmetrische Shift-Werte pro Atom.</a:t>
            </a:r>
          </a:p>
          <a:p>
            <a:pPr>
              <a:spcBef>
                <a:spcPts val="1000"/>
              </a:spcBef>
              <a:spcAft>
                <a:spcPts val="400"/>
              </a:spcAft>
              <a:defRPr sz="1500" b="1">
                <a:solidFill>
                  <a:srgbClr val="FFFFFF"/>
                </a:solidFill>
                <a:latin typeface="Segoe UI"/>
              </a:defRPr>
            </a:pPr>
            <a:r>
              <a:t>Lösung: Hybrid-Symmetrie-Erkennung:</a:t>
            </a:r>
          </a:p>
          <a:p>
            <a:pPr>
              <a:spcAft>
                <a:spcPts val="1000"/>
              </a:spcAft>
              <a:defRPr sz="1500">
                <a:solidFill>
                  <a:srgbClr val="E2E8F0"/>
                </a:solidFill>
                <a:latin typeface="Segoe UI"/>
              </a:defRPr>
            </a:pPr>
            <a:r>
              <a:t>• Optionale Mittelung über symmetrisch äquivalente Atome.</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Hybrides 2D/3D-Verfahren</a:t>
            </a:r>
          </a:p>
          <a:p>
            <a:pPr>
              <a:spcBef>
                <a:spcPts val="1000"/>
              </a:spcBef>
              <a:defRPr sz="1500">
                <a:solidFill>
                  <a:srgbClr val="E2E8F0"/>
                </a:solidFill>
                <a:latin typeface="Segoe UI"/>
              </a:defRPr>
            </a:pPr>
            <a:r>
              <a:t>Der zweistufige Symmetrie-Algorithmus der App:</a:t>
            </a:r>
            <a:br/>
            <a:br/>
            <a:r>
              <a:t>1. Topologisches Ranking (2D):</a:t>
            </a:r>
            <a:br/>
            <a:r>
              <a:t>   Nutzung von RDKit CanonicalRankAtoms unter Einbeziehung von stereochemischen Zentren.</a:t>
            </a:r>
            <a:br/>
            <a:br/>
            <a:r>
              <a:t>2. Geometrische Verfeinerung (3D):</a:t>
            </a:r>
            <a:br/>
            <a:r>
              <a:t>   Vergleich der Distanzprofile zu allen anderen Atomen der stabilsten 3D-Konformation.</a:t>
            </a:r>
            <a:br/>
            <a:r>
              <a:t>   Gruppierung nur bei 3D-Toleranz unter 0.4 Ångström.</a:t>
            </a:r>
            <a:br/>
            <a:br/>
            <a:r>
              <a:t>Vorteil:</a:t>
            </a:r>
            <a:br/>
            <a:r>
              <a:t>Rotierende Gruppen werden gemittelt, starre cis/trans-Isomere bleiben korrekt getrennt.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Automatisierte Validierung: Auto-MAE</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Das Problem der experimentellen Validierung:</a:t>
            </a:r>
          </a:p>
          <a:p>
            <a:pPr>
              <a:spcAft>
                <a:spcPts val="1000"/>
              </a:spcAft>
              <a:defRPr sz="1500">
                <a:solidFill>
                  <a:srgbClr val="E2E8F0"/>
                </a:solidFill>
                <a:latin typeface="Segoe UI"/>
              </a:defRPr>
            </a:pPr>
            <a:r>
              <a:t>• Ein gemessenes NMR-Spektrum liefert nur eine ungeordnete Liste von Peak-Verschiebungen.</a:t>
            </a:r>
          </a:p>
          <a:p>
            <a:pPr>
              <a:spcAft>
                <a:spcPts val="1000"/>
              </a:spcAft>
              <a:defRPr sz="1500">
                <a:solidFill>
                  <a:srgbClr val="E2E8F0"/>
                </a:solidFill>
                <a:latin typeface="Segoe UI"/>
              </a:defRPr>
            </a:pPr>
            <a:r>
              <a:t>• Es existiert keine inhärente Information darüber, welcher Peak zu welchem Kohlenstoffatom gehört.</a:t>
            </a:r>
          </a:p>
          <a:p>
            <a:pPr>
              <a:spcBef>
                <a:spcPts val="1000"/>
              </a:spcBef>
              <a:spcAft>
                <a:spcPts val="400"/>
              </a:spcAft>
              <a:defRPr sz="1500" b="1">
                <a:solidFill>
                  <a:srgbClr val="FFFFFF"/>
                </a:solidFill>
                <a:latin typeface="Segoe UI"/>
              </a:defRPr>
            </a:pPr>
            <a:r>
              <a:t>Die Lösung: Ordnungsbasiertes Matching (Bally &amp; Rablen 2011):</a:t>
            </a:r>
          </a:p>
          <a:p>
            <a:pPr>
              <a:spcAft>
                <a:spcPts val="1000"/>
              </a:spcAft>
              <a:defRPr sz="1500">
                <a:solidFill>
                  <a:srgbClr val="E2E8F0"/>
                </a:solidFill>
                <a:latin typeface="Segoe UI"/>
              </a:defRPr>
            </a:pPr>
            <a:r>
              <a:t>• Experimentelle Peaks und berechnete Shifts werden unabhängig voneinander absteigend sortiert.</a:t>
            </a:r>
          </a:p>
          <a:p>
            <a:pPr>
              <a:spcAft>
                <a:spcPts val="1000"/>
              </a:spcAft>
              <a:defRPr sz="1500">
                <a:solidFill>
                  <a:srgbClr val="E2E8F0"/>
                </a:solidFill>
                <a:latin typeface="Segoe UI"/>
              </a:defRPr>
            </a:pPr>
            <a:r>
              <a:t>• Paarweise Zuordnung der sortierten Listen (höchster Peak zu höchster Vorhersage etc.).</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Ordnungsbasierte Peakzuordnung</a:t>
            </a:r>
          </a:p>
          <a:p>
            <a:pPr>
              <a:spcBef>
                <a:spcPts val="1000"/>
              </a:spcBef>
              <a:defRPr sz="1500">
                <a:solidFill>
                  <a:srgbClr val="E2E8F0"/>
                </a:solidFill>
                <a:latin typeface="Segoe UI"/>
              </a:defRPr>
            </a:pPr>
            <a:r>
              <a:t>Berechnung des Mean Absolute Error (MAE) pro Modell:</a:t>
            </a:r>
            <a:br/>
            <a:br/>
            <a:r>
              <a:t>  MAE = (1 / n) * sum( |exp_i - pred_i| )</a:t>
            </a:r>
            <a:br/>
            <a:br/>
            <a:r>
              <a:t>Nutzen:</a:t>
            </a:r>
            <a:br/>
            <a:r>
              <a:t>• Der Nutzer gibt lediglich eine Liste (z.B. '128.4, 115.0, 55.3') ein.</a:t>
            </a:r>
            <a:br/>
            <a:r>
              <a:t>• Die App ordnet die Peaks den Tabellenzeilen zu und berechnet sofort den mittleren Fehler der Modelle im UI.</a:t>
            </a:r>
            <a:br/>
            <a:r>
              <a:t>• Schnelle Identifikation des am besten passenden Vorhersagemodells.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Der zweistufige Zuordnungs-Algorithmus</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Aft>
                <a:spcPts val="1000"/>
              </a:spcAft>
              <a:defRPr sz="1500">
                <a:solidFill>
                  <a:srgbClr val="E2E8F0"/>
                </a:solidFill>
                <a:latin typeface="Segoe UI"/>
              </a:defRPr>
            </a:pPr>
            <a:r>
              <a:t>Stufe A: Symmetriegruppen-Matching (Standard)</a:t>
            </a:r>
          </a:p>
          <a:p>
            <a:pPr>
              <a:spcAft>
                <a:spcPts val="1000"/>
              </a:spcAft>
              <a:defRPr sz="1500">
                <a:solidFill>
                  <a:srgbClr val="E2E8F0"/>
                </a:solidFill>
                <a:latin typeface="Segoe UI"/>
              </a:defRPr>
            </a:pPr>
            <a:r>
              <a:t>• Aktiv wenn: Peaks &lt;= Symmetriegruppen</a:t>
            </a:r>
          </a:p>
          <a:p>
            <a:pPr>
              <a:spcAft>
                <a:spcPts val="1000"/>
              </a:spcAft>
              <a:defRPr sz="1500">
                <a:solidFill>
                  <a:srgbClr val="E2E8F0"/>
                </a:solidFill>
                <a:latin typeface="Segoe UI"/>
              </a:defRPr>
            </a:pPr>
            <a:r>
              <a:t>• Kohlenstoffatome werden nach ihrem Symmetrierang gruppiert.</a:t>
            </a:r>
          </a:p>
          <a:p>
            <a:pPr>
              <a:spcAft>
                <a:spcPts val="1000"/>
              </a:spcAft>
              <a:defRPr sz="1500">
                <a:solidFill>
                  <a:srgbClr val="E2E8F0"/>
                </a:solidFill>
                <a:latin typeface="Segoe UI"/>
              </a:defRPr>
            </a:pPr>
            <a:r>
              <a:t>• Die Symmetriegruppen werden nach dem modellübergreifenden Durchschnitt ('avg') absteigend sortiert.</a:t>
            </a:r>
          </a:p>
          <a:p>
            <a:pPr>
              <a:spcAft>
                <a:spcPts val="1000"/>
              </a:spcAft>
              <a:defRPr sz="1500">
                <a:solidFill>
                  <a:srgbClr val="E2E8F0"/>
                </a:solidFill>
                <a:latin typeface="Segoe UI"/>
              </a:defRPr>
            </a:pPr>
            <a:r>
              <a:t>• Paarweises Matching der sortierten experimentellen Werte mit den Gruppen.</a:t>
            </a:r>
          </a:p>
          <a:p>
            <a:pPr>
              <a:spcAft>
                <a:spcPts val="1000"/>
              </a:spcAft>
              <a:defRPr sz="1500">
                <a:solidFill>
                  <a:srgbClr val="E2E8F0"/>
                </a:solidFill>
                <a:latin typeface="Segoe UI"/>
              </a:defRPr>
            </a:pPr>
            <a:r>
              <a:t>• Alle Atome einer Symmetriegruppe erhalten exakt denselben experimentellen Wert.</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000"/>
              </a:spcAft>
              <a:defRPr sz="1500">
                <a:solidFill>
                  <a:srgbClr val="E2E8F0"/>
                </a:solidFill>
                <a:latin typeface="Segoe UI"/>
              </a:defRPr>
            </a:pPr>
            <a:r>
              <a:t>Stufe B: 1-zu-1 Matching (Fallback)</a:t>
            </a:r>
          </a:p>
          <a:p>
            <a:pPr>
              <a:spcAft>
                <a:spcPts val="1000"/>
              </a:spcAft>
              <a:defRPr sz="1500">
                <a:solidFill>
                  <a:srgbClr val="E2E8F0"/>
                </a:solidFill>
                <a:latin typeface="Segoe UI"/>
              </a:defRPr>
            </a:pPr>
            <a:r>
              <a:t>• Aktiv wenn: Peaks &gt; Symmetriegruppen (z.B. Fremdsignale/Lösungsmittelpeaks)</a:t>
            </a:r>
          </a:p>
          <a:p>
            <a:pPr>
              <a:spcAft>
                <a:spcPts val="1000"/>
              </a:spcAft>
              <a:defRPr sz="1500">
                <a:solidFill>
                  <a:srgbClr val="E2E8F0"/>
                </a:solidFill>
                <a:latin typeface="Segoe UI"/>
              </a:defRPr>
            </a:pPr>
            <a:r>
              <a:t>• Deaktiviert das Symmetriegruppen-Matching.</a:t>
            </a:r>
          </a:p>
          <a:p>
            <a:pPr>
              <a:spcAft>
                <a:spcPts val="1000"/>
              </a:spcAft>
              <a:defRPr sz="1500">
                <a:solidFill>
                  <a:srgbClr val="E2E8F0"/>
                </a:solidFill>
                <a:latin typeface="Segoe UI"/>
              </a:defRPr>
            </a:pPr>
            <a:r>
              <a:t>• Alle Atome werden einzeln nach ihrem 'avg'-Wert absteigend sortiert.</a:t>
            </a:r>
          </a:p>
          <a:p>
            <a:pPr>
              <a:spcAft>
                <a:spcPts val="1000"/>
              </a:spcAft>
              <a:defRPr sz="1500">
                <a:solidFill>
                  <a:srgbClr val="E2E8F0"/>
                </a:solidFill>
                <a:latin typeface="Segoe UI"/>
              </a:defRPr>
            </a:pPr>
            <a:r>
              <a:t>• Direktes paarweises Matching der absteigenden Listen.</a:t>
            </a:r>
          </a:p>
          <a:p>
            <a:pPr>
              <a:spcAft>
                <a:spcPts val="1000"/>
              </a:spcAft>
              <a:defRPr sz="1500">
                <a:solidFill>
                  <a:srgbClr val="E2E8F0"/>
                </a:solidFill>
                <a:latin typeface="Segoe UI"/>
              </a:defRPr>
            </a:pPr>
            <a:r>
              <a:t>• Maximal so viele Paare wie Werte auf der kürzeren Seite vorhanden sind.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Robustheit &amp; Fehlerbehandlung</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11480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356616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Defensives Softwaredesign:</a:t>
            </a:r>
          </a:p>
          <a:p>
            <a:pPr>
              <a:spcAft>
                <a:spcPts val="1000"/>
              </a:spcAft>
              <a:defRPr sz="1500">
                <a:solidFill>
                  <a:srgbClr val="E2E8F0"/>
                </a:solidFill>
                <a:latin typeface="Segoe UI"/>
              </a:defRPr>
            </a:pPr>
            <a:r>
              <a:t>• Lokale Kapselung von Einzelfehlern sichert den Gesamtprozess.</a:t>
            </a:r>
          </a:p>
          <a:p>
            <a:pPr>
              <a:spcAft>
                <a:spcPts val="1000"/>
              </a:spcAft>
              <a:defRPr sz="1500">
                <a:solidFill>
                  <a:srgbClr val="E2E8F0"/>
                </a:solidFill>
                <a:latin typeface="Segoe UI"/>
              </a:defRPr>
            </a:pPr>
            <a:r>
              <a:t>• Ausfall eines Modells blockiert nicht die restlichen Berechnungen.</a:t>
            </a:r>
          </a:p>
          <a:p>
            <a:pPr>
              <a:spcAft>
                <a:spcPts val="1000"/>
              </a:spcAft>
              <a:defRPr sz="1500">
                <a:solidFill>
                  <a:srgbClr val="E2E8F0"/>
                </a:solidFill>
                <a:latin typeface="Segoe UI"/>
              </a:defRPr>
            </a:pPr>
            <a:r>
              <a:t>• NaN-Werte werden in Folgeanalysen (Mittelung, MAE) intelligent übersprungen.</a:t>
            </a:r>
          </a:p>
          <a:p>
            <a:pPr>
              <a:spcAft>
                <a:spcPts val="1000"/>
              </a:spcAft>
              <a:defRPr sz="1500">
                <a:solidFill>
                  <a:srgbClr val="E2E8F0"/>
                </a:solidFill>
                <a:latin typeface="Segoe UI"/>
              </a:defRPr>
            </a:pPr>
            <a:r>
              <a:t>• Automatische Fallbacks fangen Grenzfälle ab.</a:t>
            </a:r>
          </a:p>
        </p:txBody>
      </p:sp>
      <p:graphicFrame>
        <p:nvGraphicFramePr>
          <p:cNvPr id="7" name="Table 6"/>
          <p:cNvGraphicFramePr>
            <a:graphicFrameLocks noGrp="1"/>
          </p:cNvGraphicFramePr>
          <p:nvPr/>
        </p:nvGraphicFramePr>
        <p:xfrm>
          <a:off x="5120640" y="1645920"/>
          <a:ext cx="6309360" cy="4572000"/>
        </p:xfrm>
        <a:graphic>
          <a:graphicData uri="http://schemas.openxmlformats.org/drawingml/2006/table">
            <a:tbl>
              <a:tblPr firstRow="1" bandRow="1">
                <a:tableStyleId>{5C22544A-7EE6-4342-B048-85BDC9FD1C3A}</a:tableStyleId>
              </a:tblPr>
              <a:tblGrid>
                <a:gridCol w="2926080"/>
                <a:gridCol w="3383280"/>
              </a:tblGrid>
              <a:tr h="914400">
                <a:tc>
                  <a:txBody>
                    <a:bodyPr/>
                    <a:lstStyle/>
                    <a:p>
                      <a:pPr>
                        <a:defRPr sz="1200" b="1">
                          <a:solidFill>
                            <a:srgbClr val="FFFFFF"/>
                          </a:solidFill>
                          <a:latin typeface="Segoe UI"/>
                        </a:defRPr>
                      </a:pPr>
                      <a:r>
                        <a:t>Fehlerszenario / Ursache</a:t>
                      </a:r>
                    </a:p>
                  </a:txBody>
                  <a:tcPr>
                    <a:solidFill>
                      <a:srgbClr val="0F766E"/>
                    </a:solidFill>
                  </a:tcPr>
                </a:tc>
                <a:tc>
                  <a:txBody>
                    <a:bodyPr/>
                    <a:lstStyle/>
                    <a:p>
                      <a:pPr>
                        <a:defRPr sz="1200" b="1">
                          <a:solidFill>
                            <a:srgbClr val="FFFFFF"/>
                          </a:solidFill>
                          <a:latin typeface="Segoe UI"/>
                        </a:defRPr>
                      </a:pPr>
                      <a:r>
                        <a:t>Verhalten der App / Fallback</a:t>
                      </a:r>
                    </a:p>
                  </a:txBody>
                  <a:tcPr>
                    <a:solidFill>
                      <a:srgbClr val="0F766E"/>
                    </a:solidFill>
                  </a:tcPr>
                </a:tc>
              </a:tr>
              <a:tr h="914400">
                <a:tc>
                  <a:txBody>
                    <a:bodyPr/>
                    <a:lstStyle/>
                    <a:p>
                      <a:pPr>
                        <a:defRPr sz="1200">
                          <a:solidFill>
                            <a:srgbClr val="E2E8F0"/>
                          </a:solidFill>
                          <a:latin typeface="Segoe UI"/>
                        </a:defRPr>
                      </a:pPr>
                      <a:r>
                        <a:t>DCode-Fragment fehlt in CSV-DB</a:t>
                      </a:r>
                    </a:p>
                  </a:txBody>
                  <a:tcPr>
                    <a:solidFill>
                      <a:srgbClr val="1E293B"/>
                    </a:solidFill>
                  </a:tcPr>
                </a:tc>
                <a:tc>
                  <a:txBody>
                    <a:bodyPr/>
                    <a:lstStyle/>
                    <a:p>
                      <a:pPr>
                        <a:defRPr sz="1200">
                          <a:solidFill>
                            <a:srgbClr val="E2E8F0"/>
                          </a:solidFill>
                          <a:latin typeface="Segoe UI"/>
                        </a:defRPr>
                      </a:pPr>
                      <a:r>
                        <a:t>Atom erhält NaN; wird bei Spannweite und MAE ignoriert</a:t>
                      </a:r>
                    </a:p>
                  </a:txBody>
                  <a:tcPr>
                    <a:solidFill>
                      <a:srgbClr val="1E293B"/>
                    </a:solidFill>
                  </a:tcPr>
                </a:tc>
              </a:tr>
              <a:tr h="914400">
                <a:tc>
                  <a:txBody>
                    <a:bodyPr/>
                    <a:lstStyle/>
                    <a:p>
                      <a:pPr>
                        <a:defRPr sz="1200">
                          <a:solidFill>
                            <a:srgbClr val="E2E8F0"/>
                          </a:solidFill>
                          <a:latin typeface="Segoe UI"/>
                        </a:defRPr>
                      </a:pPr>
                      <a:r>
                        <a:t>RDKit 3D-Konformeren-Embedding scheitert</a:t>
                      </a:r>
                    </a:p>
                  </a:txBody>
                  <a:tcPr>
                    <a:solidFill>
                      <a:srgbClr val="1E293B"/>
                    </a:solidFill>
                  </a:tcPr>
                </a:tc>
                <a:tc>
                  <a:txBody>
                    <a:bodyPr/>
                    <a:lstStyle/>
                    <a:p>
                      <a:pPr>
                        <a:defRPr sz="1200">
                          <a:solidFill>
                            <a:srgbClr val="E2E8F0"/>
                          </a:solidFill>
                          <a:latin typeface="Segoe UI"/>
                        </a:defRPr>
                      </a:pPr>
                      <a:r>
                        <a:t>Automatischer 2D-Fallback (1 Konformer, Gewicht 1.0)</a:t>
                      </a:r>
                    </a:p>
                  </a:txBody>
                  <a:tcPr>
                    <a:solidFill>
                      <a:srgbClr val="1E293B"/>
                    </a:solidFill>
                  </a:tcPr>
                </a:tc>
              </a:tr>
              <a:tr h="914400">
                <a:tc>
                  <a:txBody>
                    <a:bodyPr/>
                    <a:lstStyle/>
                    <a:p>
                      <a:pPr>
                        <a:defRPr sz="1200">
                          <a:solidFill>
                            <a:srgbClr val="E2E8F0"/>
                          </a:solidFill>
                          <a:latin typeface="Segoe UI"/>
                        </a:defRPr>
                      </a:pPr>
                      <a:r>
                        <a:t>Unerwartete Elemente (z.B. Halogene)</a:t>
                      </a:r>
                    </a:p>
                  </a:txBody>
                  <a:tcPr>
                    <a:solidFill>
                      <a:srgbClr val="1E293B"/>
                    </a:solidFill>
                  </a:tcPr>
                </a:tc>
                <a:tc>
                  <a:txBody>
                    <a:bodyPr/>
                    <a:lstStyle/>
                    <a:p>
                      <a:pPr>
                        <a:defRPr sz="1200">
                          <a:solidFill>
                            <a:srgbClr val="E2E8F0"/>
                          </a:solidFill>
                          <a:latin typeface="Segoe UI"/>
                        </a:defRPr>
                      </a:pPr>
                      <a:r>
                        <a:t>CASCADE gibt Warnung aus; andere Modelle rechnen weiter</a:t>
                      </a:r>
                    </a:p>
                  </a:txBody>
                  <a:tcPr>
                    <a:solidFill>
                      <a:srgbClr val="1E293B"/>
                    </a:solidFill>
                  </a:tcPr>
                </a:tc>
              </a:tr>
              <a:tr h="914400">
                <a:tc>
                  <a:txBody>
                    <a:bodyPr/>
                    <a:lstStyle/>
                    <a:p>
                      <a:pPr>
                        <a:defRPr sz="1200">
                          <a:solidFill>
                            <a:srgbClr val="E2E8F0"/>
                          </a:solidFill>
                          <a:latin typeface="Segoe UI"/>
                        </a:defRPr>
                      </a:pPr>
                      <a:r>
                        <a:t>Ungültige Exp.-Daten (Formatfehler)</a:t>
                      </a:r>
                    </a:p>
                  </a:txBody>
                  <a:tcPr>
                    <a:solidFill>
                      <a:srgbClr val="1E293B"/>
                    </a:solidFill>
                  </a:tcPr>
                </a:tc>
                <a:tc>
                  <a:txBody>
                    <a:bodyPr/>
                    <a:lstStyle/>
                    <a:p>
                      <a:pPr>
                        <a:defRPr sz="1200">
                          <a:solidFill>
                            <a:srgbClr val="E2E8F0"/>
                          </a:solidFill>
                          <a:latin typeface="Segoe UI"/>
                        </a:defRPr>
                      </a:pPr>
                      <a:r>
                        <a:t>Fehlerabfang; Status-Meldung 'Invalid format in Exp. Data!'</a:t>
                      </a:r>
                    </a:p>
                  </a:txBody>
                  <a:tcPr>
                    <a:solidFill>
                      <a:srgbClr val="1E293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Features der Benutzeroberfläche (UI/UX)</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Interaktive Werkzeuge für Anwender:</a:t>
            </a:r>
          </a:p>
          <a:p>
            <a:pPr>
              <a:spcAft>
                <a:spcPts val="1000"/>
              </a:spcAft>
              <a:defRPr sz="1500">
                <a:solidFill>
                  <a:srgbClr val="E2E8F0"/>
                </a:solidFill>
                <a:latin typeface="Segoe UI"/>
              </a:defRPr>
            </a:pPr>
            <a:r>
              <a:t>• Offline Ketcher Editor:</a:t>
            </a:r>
          </a:p>
          <a:p>
            <a:pPr>
              <a:spcAft>
                <a:spcPts val="1000"/>
              </a:spcAft>
              <a:defRPr sz="1500">
                <a:solidFill>
                  <a:srgbClr val="E2E8F0"/>
                </a:solidFill>
                <a:latin typeface="Segoe UI"/>
              </a:defRPr>
            </a:pPr>
            <a:r>
              <a:t>  Lokale QtWebEngineView-Integration ermöglicht 2D-Strukturzeichnung ohne Internetverbindung.</a:t>
            </a:r>
          </a:p>
          <a:p>
            <a:pPr>
              <a:spcAft>
                <a:spcPts val="1000"/>
              </a:spcAft>
              <a:defRPr sz="1500">
                <a:solidFill>
                  <a:srgbClr val="E2E8F0"/>
                </a:solidFill>
                <a:latin typeface="Segoe UI"/>
              </a:defRPr>
            </a:pPr>
            <a:r>
              <a:t>• Zoombarer 2D-SVG-Viewer:</a:t>
            </a:r>
          </a:p>
          <a:p>
            <a:pPr>
              <a:spcAft>
                <a:spcPts val="1000"/>
              </a:spcAft>
              <a:defRPr sz="1500">
                <a:solidFill>
                  <a:srgbClr val="E2E8F0"/>
                </a:solidFill>
                <a:latin typeface="Segoe UI"/>
              </a:defRPr>
            </a:pPr>
            <a:r>
              <a:t>  Vektorgrafik mit stufenlosem Zoom und Kreuzhervorhebung (Selektion in der Tabelle markiert Atom im Bild).</a:t>
            </a:r>
          </a:p>
          <a:p>
            <a:pPr>
              <a:spcAft>
                <a:spcPts val="1000"/>
              </a:spcAft>
              <a:defRPr sz="1500">
                <a:solidFill>
                  <a:srgbClr val="E2E8F0"/>
                </a:solidFill>
                <a:latin typeface="Segoe UI"/>
              </a:defRPr>
            </a:pPr>
            <a:r>
              <a:t>• Interaktiver 3Dmol.js Conformer Viewer:</a:t>
            </a:r>
          </a:p>
          <a:p>
            <a:pPr>
              <a:spcAft>
                <a:spcPts val="1000"/>
              </a:spcAft>
              <a:defRPr sz="1500">
                <a:solidFill>
                  <a:srgbClr val="E2E8F0"/>
                </a:solidFill>
                <a:latin typeface="Segoe UI"/>
              </a:defRPr>
            </a:pPr>
            <a:r>
              <a:t>  Voll rotierbares 3D-Modell mit selektierbaren Konformeren aus dem Boltzmann-Ensemble.</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Fortsetzung:</a:t>
            </a:r>
          </a:p>
          <a:p>
            <a:pPr>
              <a:spcAft>
                <a:spcPts val="1000"/>
              </a:spcAft>
              <a:defRPr sz="1500">
                <a:solidFill>
                  <a:srgbClr val="E2E8F0"/>
                </a:solidFill>
                <a:latin typeface="Segoe UI"/>
              </a:defRPr>
            </a:pPr>
            <a:r>
              <a:t>• Lorentz-simuliertes 13C-Spektrum:</a:t>
            </a:r>
          </a:p>
          <a:p>
            <a:pPr>
              <a:spcAft>
                <a:spcPts val="1000"/>
              </a:spcAft>
              <a:defRPr sz="1500">
                <a:solidFill>
                  <a:srgbClr val="E2E8F0"/>
                </a:solidFill>
                <a:latin typeface="Segoe UI"/>
              </a:defRPr>
            </a:pPr>
            <a:r>
              <a:t>  Kontinuierliches Spektralliniendiagramm mit Peak-Picking (Klick auf Peak hebt Atom in Tabelle/Bild hervor).</a:t>
            </a:r>
          </a:p>
          <a:p>
            <a:pPr>
              <a:spcAft>
                <a:spcPts val="1000"/>
              </a:spcAft>
              <a:defRPr sz="1500">
                <a:solidFill>
                  <a:srgbClr val="E2E8F0"/>
                </a:solidFill>
                <a:latin typeface="Segoe UI"/>
              </a:defRPr>
            </a:pPr>
            <a:r>
              <a:t>• Export-System:</a:t>
            </a:r>
          </a:p>
          <a:p>
            <a:pPr>
              <a:spcAft>
                <a:spcPts val="1000"/>
              </a:spcAft>
              <a:defRPr sz="1500">
                <a:solidFill>
                  <a:srgbClr val="E2E8F0"/>
                </a:solidFill>
                <a:latin typeface="Segoe UI"/>
              </a:defRPr>
            </a:pPr>
            <a:r>
              <a:t>  Druckfertiger HTML-Bericht mit eingebetteter 2D-Struktur, Tabellenergebnissen und MAE-Statistik sowie CSV-Export.</a:t>
            </a:r>
          </a:p>
          <a:p>
            <a:pPr>
              <a:spcAft>
                <a:spcPts val="1000"/>
              </a:spcAft>
              <a:defRPr sz="1500">
                <a:solidFill>
                  <a:srgbClr val="E2E8F0"/>
                </a:solidFill>
                <a:latin typeface="Segoe UI"/>
              </a:defRPr>
            </a:pPr>
            <a:r>
              <a:t>• Sitzungs-Caching &amp; History:</a:t>
            </a:r>
          </a:p>
          <a:p>
            <a:pPr>
              <a:spcAft>
                <a:spcPts val="1000"/>
              </a:spcAft>
              <a:defRPr sz="1500">
                <a:solidFill>
                  <a:srgbClr val="E2E8F0"/>
                </a:solidFill>
                <a:latin typeface="Segoe UI"/>
              </a:defRPr>
            </a:pPr>
            <a:r>
              <a:t>  Verlaufsspeicherung zur verzögerungsfreien Replay-Anzeige bereits berechneter Moleküle im aktuellen Lauf.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914400"/>
          </a:xfrm>
          <a:prstGeom prst="rect">
            <a:avLst/>
          </a:prstGeom>
          <a:noFill/>
        </p:spPr>
        <p:txBody>
          <a:bodyPr wrap="square" lIns="0" tIns="0" rIns="0" bIns="0">
            <a:spAutoFit/>
          </a:bodyPr>
          <a:lstStyle/>
          <a:p>
            <a:pPr>
              <a:defRPr sz="3200" b="1">
                <a:solidFill>
                  <a:srgbClr val="FFFFFF"/>
                </a:solidFill>
                <a:latin typeface="Segoe UI"/>
              </a:defRPr>
            </a:pPr>
            <a:r>
              <a:t>Zusammenfassung</a:t>
            </a:r>
          </a:p>
        </p:txBody>
      </p:sp>
      <p:sp>
        <p:nvSpPr>
          <p:cNvPr id="4" name="Rectangle 3"/>
          <p:cNvSpPr/>
          <p:nvPr/>
        </p:nvSpPr>
        <p:spPr>
          <a:xfrm>
            <a:off x="731520" y="1188720"/>
            <a:ext cx="182880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572000" cy="4023360"/>
          </a:xfrm>
          <a:prstGeom prst="rect">
            <a:avLst/>
          </a:prstGeom>
          <a:noFill/>
        </p:spPr>
        <p:txBody>
          <a:bodyPr wrap="square" lIns="0" rIns="0" tIns="0" bIns="0">
            <a:spAutoFit/>
          </a:bodyPr>
          <a:lstStyle/>
          <a:p>
            <a:pPr>
              <a:spcBef>
                <a:spcPts val="0"/>
              </a:spcBef>
              <a:spcAft>
                <a:spcPts val="400"/>
              </a:spcAft>
              <a:defRPr sz="1500" b="1">
                <a:solidFill>
                  <a:srgbClr val="FFFFFF"/>
                </a:solidFill>
                <a:latin typeface="Segoe UI"/>
              </a:defRPr>
            </a:pPr>
            <a:r>
              <a:t>Wesentliche Errungenschaften der App:</a:t>
            </a:r>
          </a:p>
          <a:p>
            <a:pPr>
              <a:spcAft>
                <a:spcPts val="1000"/>
              </a:spcAft>
              <a:defRPr sz="1500">
                <a:solidFill>
                  <a:srgbClr val="E2E8F0"/>
                </a:solidFill>
                <a:latin typeface="Segoe UI"/>
              </a:defRPr>
            </a:pPr>
            <a:r>
              <a:t>• Konsensgenauigkeit:</a:t>
            </a:r>
          </a:p>
          <a:p>
            <a:pPr>
              <a:spcAft>
                <a:spcPts val="1000"/>
              </a:spcAft>
              <a:defRPr sz="1500">
                <a:solidFill>
                  <a:srgbClr val="E2E8F0"/>
                </a:solidFill>
                <a:latin typeface="Segoe UI"/>
              </a:defRPr>
            </a:pPr>
            <a:r>
              <a:t>  Wirksamer Ausgleich von systematischen Schwächen der Einzelsysteme CASCADE, EST-NMR und DCode.</a:t>
            </a:r>
          </a:p>
          <a:p>
            <a:pPr>
              <a:spcAft>
                <a:spcPts val="1000"/>
              </a:spcAft>
              <a:defRPr sz="1500">
                <a:solidFill>
                  <a:srgbClr val="E2E8F0"/>
                </a:solidFill>
                <a:latin typeface="Segoe UI"/>
              </a:defRPr>
            </a:pPr>
            <a:r>
              <a:t>• Physikalisch fundiert:</a:t>
            </a:r>
          </a:p>
          <a:p>
            <a:pPr>
              <a:spcAft>
                <a:spcPts val="1000"/>
              </a:spcAft>
              <a:defRPr sz="1500">
                <a:solidFill>
                  <a:srgbClr val="E2E8F0"/>
                </a:solidFill>
                <a:latin typeface="Segoe UI"/>
              </a:defRPr>
            </a:pPr>
            <a:r>
              <a:t>  Dynamische Repräsentation der Realität über MMFF94-Ensembles und Boltzmann-Gewichtung.</a:t>
            </a:r>
          </a:p>
          <a:p>
            <a:pPr>
              <a:spcAft>
                <a:spcPts val="1000"/>
              </a:spcAft>
              <a:defRPr sz="1500">
                <a:solidFill>
                  <a:srgbClr val="E2E8F0"/>
                </a:solidFill>
                <a:latin typeface="Segoe UI"/>
              </a:defRPr>
            </a:pPr>
            <a:r>
              <a:t>• Hoher Praxisnutzen im Labor:</a:t>
            </a:r>
          </a:p>
          <a:p>
            <a:pPr>
              <a:spcAft>
                <a:spcPts val="1000"/>
              </a:spcAft>
              <a:defRPr sz="1500">
                <a:solidFill>
                  <a:srgbClr val="E2E8F0"/>
                </a:solidFill>
                <a:latin typeface="Segoe UI"/>
              </a:defRPr>
            </a:pPr>
            <a:r>
              <a:t>  Symmetriemittelung löst Koordinaten-Asymmetrie; Auto-MAE ermöglicht direkte Validierung.</a:t>
            </a:r>
          </a:p>
          <a:p>
            <a:pPr>
              <a:spcAft>
                <a:spcPts val="1000"/>
              </a:spcAft>
              <a:defRPr sz="1500">
                <a:solidFill>
                  <a:srgbClr val="E2E8F0"/>
                </a:solidFill>
                <a:latin typeface="Segoe UI"/>
              </a:defRPr>
            </a:pPr>
            <a:r>
              <a:t>• 100% Datenschutz &amp; Unabhängigkeit:</a:t>
            </a:r>
          </a:p>
          <a:p>
            <a:pPr>
              <a:spcAft>
                <a:spcPts val="1000"/>
              </a:spcAft>
              <a:defRPr sz="1500">
                <a:solidFill>
                  <a:srgbClr val="E2E8F0"/>
                </a:solidFill>
                <a:latin typeface="Segoe UI"/>
              </a:defRPr>
            </a:pPr>
            <a:r>
              <a:t>  Komplett offline und lokal ausführbar (wichtig für sensible Forschungsdaten).</a:t>
            </a:r>
          </a:p>
        </p:txBody>
      </p:sp>
      <p:sp>
        <p:nvSpPr>
          <p:cNvPr id="7" name="Rounded Rectangle 6"/>
          <p:cNvSpPr/>
          <p:nvPr/>
        </p:nvSpPr>
        <p:spPr>
          <a:xfrm>
            <a:off x="6309360" y="1645920"/>
            <a:ext cx="512064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920240"/>
            <a:ext cx="4572000" cy="4023360"/>
          </a:xfrm>
          <a:prstGeom prst="rect">
            <a:avLst/>
          </a:prstGeom>
          <a:noFill/>
        </p:spPr>
        <p:txBody>
          <a:bodyPr wrap="square" lIns="0" rIns="0" tIns="0" bIns="0">
            <a:spAutoFit/>
          </a:bodyPr>
          <a:lstStyle/>
          <a:p>
            <a:pPr>
              <a:spcAft>
                <a:spcPts val="1400"/>
              </a:spcAft>
              <a:defRPr sz="2000" b="1">
                <a:solidFill>
                  <a:srgbClr val="38BDF8"/>
                </a:solidFill>
                <a:latin typeface="Segoe UI"/>
              </a:defRPr>
            </a:pPr>
            <a:r>
              <a:t>NMR Predictor App</a:t>
            </a:r>
          </a:p>
          <a:p>
            <a:pPr>
              <a:spcBef>
                <a:spcPts val="1000"/>
              </a:spcBef>
              <a:defRPr sz="1500">
                <a:solidFill>
                  <a:srgbClr val="E2E8F0"/>
                </a:solidFill>
                <a:latin typeface="Segoe UI"/>
              </a:defRPr>
            </a:pPr>
            <a:r>
              <a:t>Vielen Dank für Ihre Aufmerksamkeit!</a:t>
            </a:r>
            <a:br/>
            <a:br/>
            <a:r>
              <a:t>Gibt es Fragen Ihrerseits?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